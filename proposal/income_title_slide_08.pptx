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0"/>
    <p:restoredTop sz="94658"/>
  </p:normalViewPr>
  <p:slideViewPr>
    <p:cSldViewPr snapToGrid="0" snapToObjects="1">
      <p:cViewPr varScale="1">
        <p:scale>
          <a:sx n="114" d="100"/>
          <a:sy n="114" d="100"/>
        </p:scale>
        <p:origin x="17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8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answers a simple question: what exactly are we delivering?</a:t>
            </a:r>
          </a:p>
          <a:p>
            <a:endParaRPr/>
          </a:p>
          <a:p>
            <a:r>
              <a:t>Income Title is not a broad subsidy for whatever the market supplies. It is a defined home product with fixed minimum standards.</a:t>
            </a:r>
          </a:p>
          <a:p>
            <a:endParaRPr/>
          </a:p>
          <a:p>
            <a:r>
              <a:t>That matters for execution. Standardisation improves procurement comparability, reduces design churn, and helps keep quality and cost inside clear bounds.</a:t>
            </a:r>
          </a:p>
          <a:p>
            <a:endParaRPr/>
          </a:p>
          <a:p>
            <a:r>
              <a:t>For households, these are normal family homes: three bedrooms, two bathrooms, two living zones, single-storey form, and practical liveability.</a:t>
            </a:r>
          </a:p>
          <a:p>
            <a:endParaRPr/>
          </a:p>
          <a:p>
            <a:r>
              <a:t>For government and delivery partners, the product is measurable and auditable. That supports faster approvals, cleaner tendering, and reliable scale-up.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46304"/>
            <a:ext cx="111556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41414"/>
                </a:solidFill>
              </a:defRPr>
            </a:pPr>
            <a:r>
              <a:rPr dirty="0"/>
              <a:t>Product Definition: What Is Being Delivered</a:t>
            </a:r>
            <a:endParaRPr lang="en-AU" dirty="0"/>
          </a:p>
          <a:p>
            <a:pPr algn="l">
              <a:defRPr sz="3000" b="1">
                <a:solidFill>
                  <a:srgbClr val="141414"/>
                </a:solidFill>
              </a:defRPr>
            </a:pPr>
            <a:r>
              <a:rPr lang="en-AU" sz="1600" dirty="0"/>
              <a:t>A traditional Aussie detached family home</a:t>
            </a:r>
            <a:endParaRPr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658368" y="6135624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Defined product standards turn policy intent into a buildable, auditable housing unit.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464646"/>
                </a:solidFill>
              </a:defRPr>
            </a:pPr>
            <a:r>
              <a:t>Product settings based on income_title_outline.txt and procurement framing in procurement.txt.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A0DD2DA8-4BBC-4416-B4B6-EE9802345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054" y="1217965"/>
            <a:ext cx="8447668" cy="4646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158</Words>
  <Application>Microsoft Macintosh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Brendan Darcy</cp:lastModifiedBy>
  <cp:revision>3</cp:revision>
  <dcterms:created xsi:type="dcterms:W3CDTF">2013-01-27T09:14:16Z</dcterms:created>
  <dcterms:modified xsi:type="dcterms:W3CDTF">2026-06-28T21:33:12Z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72182af-80b3-4da9-83d6-053e5bd702ba_Enabled">
    <vt:lpwstr>true</vt:lpwstr>
  </property>
  <property fmtid="{D5CDD505-2E9C-101B-9397-08002B2CF9AE}" pid="3" name="MSIP_Label_872182af-80b3-4da9-83d6-053e5bd702ba_SetDate">
    <vt:lpwstr>2026-06-28T02:35:38Z</vt:lpwstr>
  </property>
  <property fmtid="{D5CDD505-2E9C-101B-9397-08002B2CF9AE}" pid="4" name="MSIP_Label_872182af-80b3-4da9-83d6-053e5bd702ba_Method">
    <vt:lpwstr>Privileged</vt:lpwstr>
  </property>
  <property fmtid="{D5CDD505-2E9C-101B-9397-08002B2CF9AE}" pid="5" name="MSIP_Label_872182af-80b3-4da9-83d6-053e5bd702ba_Name">
    <vt:lpwstr>Company Sensitive</vt:lpwstr>
  </property>
  <property fmtid="{D5CDD505-2E9C-101B-9397-08002B2CF9AE}" pid="6" name="MSIP_Label_872182af-80b3-4da9-83d6-053e5bd702ba_SiteId">
    <vt:lpwstr>04f4165a-aada-4a7a-8dd0-ab6dbadf8323</vt:lpwstr>
  </property>
  <property fmtid="{D5CDD505-2E9C-101B-9397-08002B2CF9AE}" pid="7" name="MSIP_Label_872182af-80b3-4da9-83d6-053e5bd702ba_ActionId">
    <vt:lpwstr>e20950bb-3fbb-47c0-8733-e1cf0570cd04</vt:lpwstr>
  </property>
  <property fmtid="{D5CDD505-2E9C-101B-9397-08002B2CF9AE}" pid="8" name="MSIP_Label_872182af-80b3-4da9-83d6-053e5bd702ba_ContentBits">
    <vt:lpwstr>0</vt:lpwstr>
  </property>
  <property fmtid="{D5CDD505-2E9C-101B-9397-08002B2CF9AE}" pid="9" name="MSIP_Label_872182af-80b3-4da9-83d6-053e5bd702ba_Tag">
    <vt:lpwstr>50, 0, 1, 1</vt:lpwstr>
  </property>
</Properties>
</file>