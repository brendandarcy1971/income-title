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7" r:id="rId2"/>
    <p:sldId id="256" r:id="rId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33"/>
    <p:restoredTop sz="94655"/>
  </p:normalViewPr>
  <p:slideViewPr>
    <p:cSldViewPr snapToGrid="0" snapToObjects="1">
      <p:cViewPr>
        <p:scale>
          <a:sx n="110" d="100"/>
          <a:sy n="110" d="100"/>
        </p:scale>
        <p:origin x="2056" y="9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5727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14DF4-59C6-2329-9E38-D41714D1B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EB22F2-B977-5564-F1F0-A9A47068EEA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DE6484-1B52-5484-F0A5-8B8828959B8D}"/>
              </a:ext>
            </a:extLst>
          </p:cNvPr>
          <p:cNvSpPr>
            <a:spLocks noGrp="1"/>
          </p:cNvSpPr>
          <p:nvPr>
            <p:ph type="body" sz="quarter" idx="3"/>
          </p:nvPr>
        </p:nvSpPr>
        <p:spPr/>
        <p:txBody>
          <a:bodyPr/>
          <a:lstStyle/>
          <a:p>
            <a:r>
              <a:rPr dirty="0"/>
              <a:t>Use this as a full-page emotional anchor slide before diagnosis. Pause after reading the quote to let the audience absorb the human consequence framing.</a:t>
            </a:r>
          </a:p>
        </p:txBody>
      </p:sp>
      <p:sp>
        <p:nvSpPr>
          <p:cNvPr id="4" name="Slide Number Placeholder 3">
            <a:extLst>
              <a:ext uri="{FF2B5EF4-FFF2-40B4-BE49-F238E27FC236}">
                <a16:creationId xmlns:a16="http://schemas.microsoft.com/office/drawing/2014/main" id="{63A4148E-AD53-D153-5D6A-93B556B4A441}"/>
              </a:ext>
            </a:extLst>
          </p:cNvPr>
          <p:cNvSpPr>
            <a:spLocks noGrp="1"/>
          </p:cNvSpPr>
          <p:nvPr>
            <p:ph type="sldNum" sz="quarter" idx="5"/>
          </p:nvPr>
        </p:nvSpPr>
        <p:spPr/>
      </p:sp>
    </p:spTree>
    <p:extLst>
      <p:ext uri="{BB962C8B-B14F-4D97-AF65-F5344CB8AC3E}">
        <p14:creationId xmlns:p14="http://schemas.microsoft.com/office/powerpoint/2010/main" val="1705433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Use this as a full-page emotional anchor slide before diagnosis. Pause after reading the quote to let the audience absorb the human consequence framing.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978A0-E4AE-9A94-96AA-5A563AB9976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F0D956E-CC48-4C38-89B6-0C686A91681D}"/>
              </a:ext>
            </a:extLst>
          </p:cNvPr>
          <p:cNvPicPr>
            <a:picLocks noChangeAspect="1"/>
          </p:cNvPicPr>
          <p:nvPr/>
        </p:nvPicPr>
        <p:blipFill>
          <a:blip r:embed="rId3"/>
          <a:stretch>
            <a:fillRect/>
          </a:stretch>
        </p:blipFill>
        <p:spPr>
          <a:xfrm>
            <a:off x="-1" y="0"/>
            <a:ext cx="12192001" cy="6858000"/>
          </a:xfrm>
          <a:prstGeom prst="rect">
            <a:avLst/>
          </a:prstGeom>
        </p:spPr>
      </p:pic>
      <p:sp>
        <p:nvSpPr>
          <p:cNvPr id="9" name="TextBox 8">
            <a:extLst>
              <a:ext uri="{FF2B5EF4-FFF2-40B4-BE49-F238E27FC236}">
                <a16:creationId xmlns:a16="http://schemas.microsoft.com/office/drawing/2014/main" id="{90066BB3-1520-5478-2914-E39D579D7D0D}"/>
              </a:ext>
            </a:extLst>
          </p:cNvPr>
          <p:cNvSpPr txBox="1"/>
          <p:nvPr/>
        </p:nvSpPr>
        <p:spPr>
          <a:xfrm>
            <a:off x="1272603" y="1176621"/>
            <a:ext cx="9924586" cy="4893647"/>
          </a:xfrm>
          <a:prstGeom prst="rect">
            <a:avLst/>
          </a:prstGeom>
          <a:noFill/>
        </p:spPr>
        <p:txBody>
          <a:bodyPr wrap="square" rtlCol="0">
            <a:spAutoFit/>
          </a:bodyPr>
          <a:lstStyle/>
          <a:p>
            <a:pPr algn="ctr">
              <a:spcAft>
                <a:spcPts val="600"/>
              </a:spcAft>
            </a:pPr>
            <a:r>
              <a:rPr lang="en-AU" dirty="0"/>
              <a:t>“Public housing is a human right.” — Protest slogan at Sydney housing rally</a:t>
            </a:r>
          </a:p>
          <a:p>
            <a:pPr algn="ctr">
              <a:spcAft>
                <a:spcPts val="600"/>
              </a:spcAft>
            </a:pPr>
            <a:endParaRPr lang="en-AU" dirty="0"/>
          </a:p>
          <a:p>
            <a:pPr algn="ctr">
              <a:spcAft>
                <a:spcPts val="600"/>
              </a:spcAft>
            </a:pPr>
            <a:r>
              <a:rPr lang="en-AU" dirty="0"/>
              <a:t>“While renters are being hit with astronomical rent increases… banks, big investors and dodgy developers are getting rich off the housing crisis.”</a:t>
            </a:r>
          </a:p>
          <a:p>
            <a:pPr algn="ctr">
              <a:spcAft>
                <a:spcPts val="600"/>
              </a:spcAft>
            </a:pPr>
            <a:r>
              <a:rPr lang="en-AU" dirty="0"/>
              <a:t>— Statement from housing advocacy rally speakers</a:t>
            </a:r>
          </a:p>
          <a:p>
            <a:pPr algn="ctr">
              <a:spcAft>
                <a:spcPts val="600"/>
              </a:spcAft>
            </a:pPr>
            <a:endParaRPr lang="en-AU" dirty="0"/>
          </a:p>
          <a:p>
            <a:pPr algn="ctr">
              <a:spcAft>
                <a:spcPts val="600"/>
              </a:spcAft>
            </a:pPr>
            <a:r>
              <a:rPr lang="en-AU" dirty="0"/>
              <a:t>“We’ve got no hope really of being able to afford a place of our own.”</a:t>
            </a:r>
          </a:p>
          <a:p>
            <a:pPr algn="ctr">
              <a:spcAft>
                <a:spcPts val="600"/>
              </a:spcAft>
            </a:pPr>
            <a:r>
              <a:rPr lang="en-AU" dirty="0"/>
              <a:t>— Young Australian couple interviewed on housing affordability</a:t>
            </a:r>
          </a:p>
          <a:p>
            <a:pPr algn="ctr">
              <a:spcAft>
                <a:spcPts val="600"/>
              </a:spcAft>
            </a:pPr>
            <a:endParaRPr lang="en-AU" dirty="0"/>
          </a:p>
          <a:p>
            <a:pPr algn="ctr">
              <a:spcAft>
                <a:spcPts val="600"/>
              </a:spcAft>
            </a:pPr>
            <a:r>
              <a:rPr lang="en-AU" dirty="0"/>
              <a:t>“There is a huge issue… where housing is seen as an asset, not a human right.”</a:t>
            </a:r>
          </a:p>
          <a:p>
            <a:pPr algn="ctr">
              <a:spcAft>
                <a:spcPts val="600"/>
              </a:spcAft>
            </a:pPr>
            <a:r>
              <a:rPr lang="en-AU" dirty="0"/>
              <a:t>— Interviewee describing systemic housing problems</a:t>
            </a:r>
          </a:p>
          <a:p>
            <a:pPr algn="ctr">
              <a:spcAft>
                <a:spcPts val="600"/>
              </a:spcAft>
            </a:pPr>
            <a:endParaRPr lang="en-AU" dirty="0"/>
          </a:p>
          <a:p>
            <a:pPr algn="ctr">
              <a:spcAft>
                <a:spcPts val="600"/>
              </a:spcAft>
            </a:pPr>
            <a:r>
              <a:rPr lang="en-AU" dirty="0"/>
              <a:t>“Renters and owner‑occupiers are being squeezed by cost of living and the housing crisis.”</a:t>
            </a:r>
          </a:p>
          <a:p>
            <a:pPr algn="ctr">
              <a:spcAft>
                <a:spcPts val="600"/>
              </a:spcAft>
            </a:pPr>
            <a:r>
              <a:rPr lang="en-AU" dirty="0"/>
              <a:t>— Statement from student/union housing campaign representatives</a:t>
            </a:r>
          </a:p>
        </p:txBody>
      </p:sp>
      <p:sp>
        <p:nvSpPr>
          <p:cNvPr id="2" name="TextBox 1">
            <a:extLst>
              <a:ext uri="{FF2B5EF4-FFF2-40B4-BE49-F238E27FC236}">
                <a16:creationId xmlns:a16="http://schemas.microsoft.com/office/drawing/2014/main" id="{BDC65CF4-AF63-3D6A-945D-3E1E4BA884F0}"/>
              </a:ext>
            </a:extLst>
          </p:cNvPr>
          <p:cNvSpPr txBox="1"/>
          <p:nvPr/>
        </p:nvSpPr>
        <p:spPr>
          <a:xfrm>
            <a:off x="411480" y="146304"/>
            <a:ext cx="7703712" cy="523220"/>
          </a:xfrm>
          <a:prstGeom prst="rect">
            <a:avLst/>
          </a:prstGeom>
          <a:noFill/>
        </p:spPr>
        <p:txBody>
          <a:bodyPr wrap="none">
            <a:spAutoFit/>
          </a:bodyPr>
          <a:lstStyle/>
          <a:p>
            <a:pPr>
              <a:defRPr sz="2800" b="1">
                <a:solidFill>
                  <a:srgbClr val="141414"/>
                </a:solidFill>
              </a:defRPr>
            </a:pPr>
            <a:r>
              <a:rPr lang="en-AU" dirty="0"/>
              <a:t>Housing Crisis Perspectives - </a:t>
            </a:r>
            <a:r>
              <a:rPr lang="en-AU" sz="2800" dirty="0"/>
              <a:t>Fix The Housing Rally</a:t>
            </a:r>
            <a:endParaRPr dirty="0"/>
          </a:p>
        </p:txBody>
      </p:sp>
    </p:spTree>
    <p:extLst>
      <p:ext uri="{BB962C8B-B14F-4D97-AF65-F5344CB8AC3E}">
        <p14:creationId xmlns:p14="http://schemas.microsoft.com/office/powerpoint/2010/main" val="4197554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DECE04-7735-C981-69D6-DA216962AEFF}"/>
              </a:ext>
            </a:extLst>
          </p:cNvPr>
          <p:cNvPicPr>
            <a:picLocks noChangeAspect="1"/>
          </p:cNvPicPr>
          <p:nvPr/>
        </p:nvPicPr>
        <p:blipFill>
          <a:blip r:embed="rId3"/>
          <a:stretch>
            <a:fillRect/>
          </a:stretch>
        </p:blipFill>
        <p:spPr>
          <a:xfrm>
            <a:off x="0" y="7404"/>
            <a:ext cx="12224104" cy="6858000"/>
          </a:xfrm>
          <a:prstGeom prst="rect">
            <a:avLst/>
          </a:prstGeom>
        </p:spPr>
      </p:pic>
      <p:sp>
        <p:nvSpPr>
          <p:cNvPr id="9" name="TextBox 8">
            <a:extLst>
              <a:ext uri="{FF2B5EF4-FFF2-40B4-BE49-F238E27FC236}">
                <a16:creationId xmlns:a16="http://schemas.microsoft.com/office/drawing/2014/main" id="{408AF0DB-C028-8471-C855-AE5305F8A7BB}"/>
              </a:ext>
            </a:extLst>
          </p:cNvPr>
          <p:cNvSpPr txBox="1"/>
          <p:nvPr/>
        </p:nvSpPr>
        <p:spPr>
          <a:xfrm>
            <a:off x="1048214" y="1335225"/>
            <a:ext cx="9924586" cy="4670509"/>
          </a:xfrm>
          <a:prstGeom prst="rect">
            <a:avLst/>
          </a:prstGeom>
          <a:noFill/>
        </p:spPr>
        <p:txBody>
          <a:bodyPr wrap="square" rtlCol="0">
            <a:spAutoFit/>
          </a:bodyPr>
          <a:lstStyle/>
          <a:p>
            <a:pPr algn="ctr">
              <a:spcBef>
                <a:spcPts val="800"/>
              </a:spcBef>
              <a:spcAft>
                <a:spcPts val="300"/>
              </a:spcAft>
            </a:pPr>
            <a:r>
              <a:rPr lang="en-AU" dirty="0"/>
              <a:t>“They're creating voting blocks in 15 minute cities where your kids will never see a backyard.”</a:t>
            </a:r>
            <a:br>
              <a:rPr lang="en-AU" dirty="0"/>
            </a:br>
            <a:br>
              <a:rPr lang="en-AU" dirty="0"/>
            </a:br>
            <a:r>
              <a:rPr lang="en-AU" dirty="0"/>
              <a:t>“You’re a young worker, that’s right — and I used to tell the mate, “In a year, you’ll be full-time. Save the house deposit. Get a home in Ipswich, right?” I can’t sell that dream to my workmates, and it’s not bloody good enough. He ran on the last election this year. He said he was going to reduce immigration. He absolutely lied to all of us. People of good faith voted for that guy because they were sick to death of what the Liberal Party’s been doing, because both of them are as bad as each other.</a:t>
            </a:r>
          </a:p>
          <a:p>
            <a:pPr algn="ctr">
              <a:spcBef>
                <a:spcPts val="800"/>
              </a:spcBef>
              <a:spcAft>
                <a:spcPts val="300"/>
              </a:spcAft>
            </a:pPr>
            <a:r>
              <a:rPr lang="en-AU" dirty="0"/>
              <a:t>They dragged us through COVID together. They locked us down. They sent families broke. The families aren’t having as many children because they can’t afford it. How you </a:t>
            </a:r>
            <a:r>
              <a:rPr lang="en-AU" dirty="0" err="1"/>
              <a:t>gonna</a:t>
            </a:r>
            <a:r>
              <a:rPr lang="en-AU" dirty="0"/>
              <a:t> pay for an $800,000 mortgage? How many people in this country earn over $100,000?</a:t>
            </a:r>
          </a:p>
          <a:p>
            <a:pPr algn="ctr">
              <a:spcBef>
                <a:spcPts val="800"/>
              </a:spcBef>
              <a:spcAft>
                <a:spcPts val="300"/>
              </a:spcAft>
            </a:pPr>
            <a:r>
              <a:rPr lang="en-AU" dirty="0"/>
              <a:t>It’s not fucking real. Only 6% of people could afford houses now. How you </a:t>
            </a:r>
            <a:r>
              <a:rPr lang="en-AU" dirty="0" err="1"/>
              <a:t>gonna</a:t>
            </a:r>
            <a:r>
              <a:rPr lang="en-AU" dirty="0"/>
              <a:t> put a ring on a young lady’s finger and give her security and a family, marry her and have kids, if you can’t put a roof over your bloody head? It’s not good enough. That’s why we’re here. I work in the industry. We can’t build enough homes to house the people in the country. There’s bloody tent cities in this city everywhere.</a:t>
            </a:r>
          </a:p>
          <a:p>
            <a:pPr algn="ctr">
              <a:spcBef>
                <a:spcPts val="800"/>
              </a:spcBef>
              <a:spcAft>
                <a:spcPts val="300"/>
              </a:spcAft>
            </a:pPr>
            <a:r>
              <a:rPr lang="en-AU" dirty="0"/>
              <a:t>We’ve had enough. They need to listen to us. Across this country, right now, people are protesting.”</a:t>
            </a:r>
          </a:p>
        </p:txBody>
      </p:sp>
      <p:sp>
        <p:nvSpPr>
          <p:cNvPr id="11" name="TextBox 10">
            <a:extLst>
              <a:ext uri="{FF2B5EF4-FFF2-40B4-BE49-F238E27FC236}">
                <a16:creationId xmlns:a16="http://schemas.microsoft.com/office/drawing/2014/main" id="{C6C72D7F-4CC5-1306-83D1-F242F506B3DC}"/>
              </a:ext>
            </a:extLst>
          </p:cNvPr>
          <p:cNvSpPr txBox="1"/>
          <p:nvPr/>
        </p:nvSpPr>
        <p:spPr>
          <a:xfrm>
            <a:off x="411480" y="146304"/>
            <a:ext cx="5453737" cy="523220"/>
          </a:xfrm>
          <a:prstGeom prst="rect">
            <a:avLst/>
          </a:prstGeom>
          <a:noFill/>
        </p:spPr>
        <p:txBody>
          <a:bodyPr wrap="none">
            <a:spAutoFit/>
          </a:bodyPr>
          <a:lstStyle/>
          <a:p>
            <a:pPr>
              <a:defRPr sz="2800" b="1">
                <a:solidFill>
                  <a:srgbClr val="141414"/>
                </a:solidFill>
              </a:defRPr>
            </a:pPr>
            <a:r>
              <a:rPr lang="en-AU" dirty="0"/>
              <a:t>March for Australia - Brisbane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488</Words>
  <Application>Microsoft Macintosh PowerPoint</Application>
  <PresentationFormat>Widescreen</PresentationFormat>
  <Paragraphs>21</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Brendan Darcy</cp:lastModifiedBy>
  <cp:revision>6</cp:revision>
  <dcterms:created xsi:type="dcterms:W3CDTF">2013-01-27T09:14:16Z</dcterms:created>
  <dcterms:modified xsi:type="dcterms:W3CDTF">2026-06-28T02:24:40Z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72182af-80b3-4da9-83d6-053e5bd702ba_Enabled">
    <vt:lpwstr>true</vt:lpwstr>
  </property>
  <property fmtid="{D5CDD505-2E9C-101B-9397-08002B2CF9AE}" pid="3" name="MSIP_Label_872182af-80b3-4da9-83d6-053e5bd702ba_SetDate">
    <vt:lpwstr>2026-06-28T01:52:11Z</vt:lpwstr>
  </property>
  <property fmtid="{D5CDD505-2E9C-101B-9397-08002B2CF9AE}" pid="4" name="MSIP_Label_872182af-80b3-4da9-83d6-053e5bd702ba_Method">
    <vt:lpwstr>Privileged</vt:lpwstr>
  </property>
  <property fmtid="{D5CDD505-2E9C-101B-9397-08002B2CF9AE}" pid="5" name="MSIP_Label_872182af-80b3-4da9-83d6-053e5bd702ba_Name">
    <vt:lpwstr>Company Sensitive</vt:lpwstr>
  </property>
  <property fmtid="{D5CDD505-2E9C-101B-9397-08002B2CF9AE}" pid="6" name="MSIP_Label_872182af-80b3-4da9-83d6-053e5bd702ba_SiteId">
    <vt:lpwstr>04f4165a-aada-4a7a-8dd0-ab6dbadf8323</vt:lpwstr>
  </property>
  <property fmtid="{D5CDD505-2E9C-101B-9397-08002B2CF9AE}" pid="7" name="MSIP_Label_872182af-80b3-4da9-83d6-053e5bd702ba_ActionId">
    <vt:lpwstr>782d9508-9ebb-44bc-bb31-db52bc54686b</vt:lpwstr>
  </property>
  <property fmtid="{D5CDD505-2E9C-101B-9397-08002B2CF9AE}" pid="8" name="MSIP_Label_872182af-80b3-4da9-83d6-053e5bd702ba_ContentBits">
    <vt:lpwstr>0</vt:lpwstr>
  </property>
  <property fmtid="{D5CDD505-2E9C-101B-9397-08002B2CF9AE}" pid="9" name="MSIP_Label_872182af-80b3-4da9-83d6-053e5bd702ba_Tag">
    <vt:lpwstr>50, 0, 1, 1</vt:lpwstr>
  </property>
</Properties>
</file>