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common framing is that housing is expensive because it is expensive to build. This chart shows a broader reality.</a:t>
            </a:r>
          </a:p>
          <a:p/>
          <a:p>
            <a:r>
              <a:t>The left chart uses a waterfall to show cumulative price formation from raw land through delivery layers to final price. In outer major-city areas, the final price can sit in a 600,000 to 1,000,000 range.</a:t>
            </a:r>
          </a:p>
          <a:p/>
          <a:p>
            <a:r>
              <a:t>Under each bar, ranges show how the same category scales across that 600,000 to 1,000,000 market band.</a:t>
            </a:r>
          </a:p>
          <a:p/>
          <a:p>
            <a:r>
              <a:t>Land-system and delivery layers create large uplift before the keys are handed over: land transformation, infrastructure, compliance, and risk-loaded margins.</a:t>
            </a:r>
          </a:p>
          <a:p/>
          <a:p>
            <a:r>
              <a:t>On the right, the mortgage-capacity panel shows the financing anchor. For a household on 120,000 with a 40,000 deposit and a 5x lending multiple, maximum borrowing capacity is 600,000, but this scenario holds purchase price at 600,000.</a:t>
            </a:r>
          </a:p>
          <a:p/>
          <a:p>
            <a:r>
              <a:t>At 6% over 30 years, the required 560,000 loan implies repayments of about 3,358 per month, or about 33.6% of gross income.</a:t>
            </a:r>
          </a:p>
          <a:p/>
          <a:p>
            <a:r>
              <a:t>So margins and embedded costs do not just reflect technical delivery input costs. They can expand toward available finance.</a:t>
            </a:r>
          </a:p>
          <a:p/>
          <a:p>
            <a:r>
              <a:t>That is why policy reform has to focus on system economics, not only construction productivity.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1414"/>
                </a:solidFill>
              </a:defRPr>
            </a:pPr>
            <a:r>
              <a:t>Diagnosis: What Is Actually Expensive?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94944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464646"/>
                </a:solidFill>
              </a:defRPr>
            </a:pPr>
            <a:r>
              <a:t>Show cost build-up as a waterfall from raw land to final price, then show how lending-capacity settings push households to max borrow.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34440"/>
            <a:ext cx="7452360" cy="4343400"/>
          </a:xfrm>
          <a:prstGeom prst="rect">
            <a:avLst/>
          </a:prstGeom>
          <a:solidFill>
            <a:srgbClr val="F1F4F7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64646"/>
                </a:solidFill>
              </a:defRPr>
            </a:pPr>
            <a:r>
              <a:t>Waterfall: cost formation per dwelling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6280" y="1280160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64646"/>
                </a:solidFill>
              </a:defRPr>
            </a:pPr>
            <a:r>
              <a:t>Range: $600k to $1.0m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206240"/>
            <a:ext cx="6995160" cy="9144"/>
          </a:xfrm>
          <a:prstGeom prst="rect">
            <a:avLst/>
          </a:prstGeom>
          <a:solidFill>
            <a:srgbClr val="B4BAC2"/>
          </a:solidFill>
          <a:ln>
            <a:solidFill>
              <a:srgbClr val="B4BA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4142231"/>
            <a:ext cx="713232" cy="64008"/>
          </a:xfrm>
          <a:prstGeom prst="rect">
            <a:avLst/>
          </a:prstGeom>
          <a:solidFill>
            <a:srgbClr val="C65E1F"/>
          </a:solidFill>
          <a:ln>
            <a:solidFill>
              <a:srgbClr val="C65E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59" y="3977639"/>
            <a:ext cx="804672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41414"/>
                </a:solidFill>
              </a:defRPr>
            </a:pPr>
            <a:r>
              <a:t>2.5%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1" y="4251959"/>
            <a:ext cx="84124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464646"/>
                </a:solidFill>
              </a:defRPr>
            </a:pPr>
            <a:r>
              <a:t>Raw</a:t>
            </a:r>
            <a:br/>
            <a:r>
              <a:t>land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5" y="4572000"/>
            <a:ext cx="822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41414"/>
                </a:solidFill>
              </a:defRPr>
            </a:pPr>
            <a:r>
              <a:t>20k-30k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87068" y="3822191"/>
            <a:ext cx="713232" cy="320039"/>
          </a:xfrm>
          <a:prstGeom prst="rect">
            <a:avLst/>
          </a:prstGeom>
          <a:solidFill>
            <a:srgbClr val="C65E1F"/>
          </a:solidFill>
          <a:ln>
            <a:solidFill>
              <a:srgbClr val="C65E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1348" y="3657599"/>
            <a:ext cx="804672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41414"/>
                </a:solidFill>
              </a:defRPr>
            </a:pPr>
            <a:r>
              <a:t>12.5%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3060" y="4251959"/>
            <a:ext cx="84124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464646"/>
                </a:solidFill>
              </a:defRPr>
            </a:pPr>
            <a:r>
              <a:t>Rezoning</a:t>
            </a:r>
            <a:br/>
            <a:r>
              <a:t>/ scarcity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32204" y="4572000"/>
            <a:ext cx="822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41414"/>
                </a:solidFill>
              </a:defRPr>
            </a:pPr>
            <a:r>
              <a:t>80k-130k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34056" y="3502151"/>
            <a:ext cx="713232" cy="320040"/>
          </a:xfrm>
          <a:prstGeom prst="rect">
            <a:avLst/>
          </a:prstGeom>
          <a:solidFill>
            <a:srgbClr val="C65E1F"/>
          </a:solidFill>
          <a:ln>
            <a:solidFill>
              <a:srgbClr val="C65E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88336" y="3337559"/>
            <a:ext cx="804672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41414"/>
                </a:solidFill>
              </a:defRPr>
            </a:pPr>
            <a:r>
              <a:t>12.5%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70048" y="4251959"/>
            <a:ext cx="84124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464646"/>
                </a:solidFill>
              </a:defRPr>
            </a:pPr>
            <a:r>
              <a:t>Infra</a:t>
            </a:r>
            <a:br/>
            <a:r>
              <a:t>+ civil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79192" y="4572000"/>
            <a:ext cx="822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41414"/>
                </a:solidFill>
              </a:defRPr>
            </a:pPr>
            <a:r>
              <a:t>80k-130k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81044" y="2221991"/>
            <a:ext cx="713232" cy="1280160"/>
          </a:xfrm>
          <a:prstGeom prst="rect">
            <a:avLst/>
          </a:prstGeom>
          <a:solidFill>
            <a:srgbClr val="475E92"/>
          </a:solidFill>
          <a:ln>
            <a:solidFill>
              <a:srgbClr val="475E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35324" y="2057399"/>
            <a:ext cx="804672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41414"/>
                </a:solidFill>
              </a:defRPr>
            </a:pPr>
            <a:r>
              <a:t>50.0%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17035" y="4251959"/>
            <a:ext cx="84124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464646"/>
                </a:solidFill>
              </a:defRPr>
            </a:pPr>
            <a:r>
              <a:t>Construction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26180" y="4572000"/>
            <a:ext cx="822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41414"/>
                </a:solidFill>
              </a:defRPr>
            </a:pPr>
            <a:r>
              <a:t>300k-500k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28032" y="1965959"/>
            <a:ext cx="713232" cy="256032"/>
          </a:xfrm>
          <a:prstGeom prst="rect">
            <a:avLst/>
          </a:prstGeom>
          <a:solidFill>
            <a:srgbClr val="475E92"/>
          </a:solidFill>
          <a:ln>
            <a:solidFill>
              <a:srgbClr val="475E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82312" y="1801367"/>
            <a:ext cx="804672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41414"/>
                </a:solidFill>
              </a:defRPr>
            </a:pPr>
            <a:r>
              <a:t>10.0%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64024" y="4251959"/>
            <a:ext cx="84124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464646"/>
                </a:solidFill>
              </a:defRPr>
            </a:pPr>
            <a:r>
              <a:t>Taxes</a:t>
            </a:r>
            <a:br/>
            <a:r>
              <a:t>+ compliance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73168" y="4572000"/>
            <a:ext cx="822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41414"/>
                </a:solidFill>
              </a:defRPr>
            </a:pPr>
            <a:r>
              <a:t>60k-100k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75020" y="1645919"/>
            <a:ext cx="713232" cy="320039"/>
          </a:xfrm>
          <a:prstGeom prst="rect">
            <a:avLst/>
          </a:prstGeom>
          <a:solidFill>
            <a:srgbClr val="475E92"/>
          </a:solidFill>
          <a:ln>
            <a:solidFill>
              <a:srgbClr val="475E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29300" y="1481328"/>
            <a:ext cx="804672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41414"/>
                </a:solidFill>
              </a:defRPr>
            </a:pPr>
            <a:r>
              <a:t>12.5%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11012" y="4251959"/>
            <a:ext cx="84124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464646"/>
                </a:solidFill>
              </a:defRPr>
            </a:pPr>
            <a:r>
              <a:t>Overheads</a:t>
            </a:r>
            <a:br/>
            <a:r>
              <a:t>+ margin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20156" y="4572000"/>
            <a:ext cx="822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41414"/>
                </a:solidFill>
              </a:defRPr>
            </a:pPr>
            <a:r>
              <a:t>80k-130k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22008" y="1645919"/>
            <a:ext cx="713232" cy="2560320"/>
          </a:xfrm>
          <a:prstGeom prst="rect">
            <a:avLst/>
          </a:prstGeom>
          <a:solidFill>
            <a:srgbClr val="363A42"/>
          </a:solidFill>
          <a:ln>
            <a:solidFill>
              <a:srgbClr val="363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76288" y="1481328"/>
            <a:ext cx="804672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41414"/>
                </a:solidFill>
              </a:defRPr>
            </a:pPr>
            <a:r>
              <a:t>100%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4251959"/>
            <a:ext cx="84124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464646"/>
                </a:solidFill>
              </a:defRPr>
            </a:pPr>
            <a:r>
              <a:t>Final</a:t>
            </a:r>
            <a:br/>
            <a:r>
              <a:t>price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67144" y="4572000"/>
            <a:ext cx="822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41414"/>
                </a:solidFill>
              </a:defRPr>
            </a:pPr>
            <a:r>
              <a:t>600k-1,000k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5321807"/>
            <a:ext cx="7178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464646"/>
                </a:solidFill>
              </a:defRPr>
            </a:pPr>
            <a:r>
              <a:t>Range labels under bars are dollar equivalents across the $600k to $1.0m band.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01000" y="1234440"/>
            <a:ext cx="3749039" cy="3063240"/>
          </a:xfrm>
          <a:prstGeom prst="rect">
            <a:avLst/>
          </a:prstGeom>
          <a:solidFill>
            <a:srgbClr val="F1F4F7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38160" y="1280160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64646"/>
                </a:solidFill>
              </a:defRPr>
            </a:pPr>
            <a:r>
              <a:t>Mortgage-capacity scenario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38160" y="1554480"/>
            <a:ext cx="3474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64646"/>
                </a:solidFill>
              </a:defRPr>
            </a:pPr>
            <a:r>
              <a:t>Inputs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83879" y="1719072"/>
            <a:ext cx="338327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141414"/>
                </a:solidFill>
              </a:defRPr>
            </a:pPr>
            <a:r>
              <a:t>Income: $120,000 p.a.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83879" y="1901952"/>
            <a:ext cx="338327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141414"/>
                </a:solidFill>
              </a:defRPr>
            </a:pPr>
            <a:r>
              <a:t>Deposit: $40,000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83879" y="2084832"/>
            <a:ext cx="338327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141414"/>
                </a:solidFill>
              </a:defRPr>
            </a:pPr>
            <a:r>
              <a:t>Lending multiple: 5x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83879" y="2267712"/>
            <a:ext cx="338327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141414"/>
                </a:solidFill>
              </a:defRPr>
            </a:pPr>
            <a:r>
              <a:t>Rate: 6.0%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83879" y="2450592"/>
            <a:ext cx="338327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141414"/>
                </a:solidFill>
              </a:defRPr>
            </a:pPr>
            <a:r>
              <a:t>Term: 30 years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38160" y="2706624"/>
            <a:ext cx="3474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64646"/>
                </a:solidFill>
              </a:defRPr>
            </a:pPr>
            <a:r>
              <a:t>Outputs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83879" y="2871216"/>
            <a:ext cx="338327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41414"/>
                </a:solidFill>
              </a:defRPr>
            </a:pPr>
            <a:r>
              <a:t>Max loan @ 5x: $600,000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83879" y="3054096"/>
            <a:ext cx="338327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141414"/>
                </a:solidFill>
              </a:defRPr>
            </a:pPr>
            <a:r>
              <a:t>Assumed purchase: $600,000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83879" y="3236976"/>
            <a:ext cx="338327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141414"/>
                </a:solidFill>
              </a:defRPr>
            </a:pPr>
            <a:r>
              <a:t>Loan required: $560,000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83879" y="3419856"/>
            <a:ext cx="338327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AA2D2D"/>
                </a:solidFill>
              </a:defRPr>
            </a:pPr>
            <a:r>
              <a:t>Monthly repayment: $3,358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83879" y="3602736"/>
            <a:ext cx="338327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141414"/>
                </a:solidFill>
              </a:defRPr>
            </a:pPr>
            <a:r>
              <a:t>Annual repayment: $40,296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83879" y="3785616"/>
            <a:ext cx="338327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A2D2D"/>
                </a:solidFill>
              </a:defRPr>
            </a:pPr>
            <a:r>
              <a:t>Repayment burden: 33.6% of income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38160" y="4069080"/>
            <a:ext cx="3474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464646"/>
                </a:solidFill>
              </a:defRPr>
            </a:pPr>
            <a:r>
              <a:t>Repayment excludes rates, insurance, maintenance, and transaction costs.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001000" y="4434840"/>
            <a:ext cx="3749039" cy="1143000"/>
          </a:xfrm>
          <a:prstGeom prst="rect">
            <a:avLst/>
          </a:prstGeom>
          <a:solidFill>
            <a:srgbClr val="F8FAFC"/>
          </a:solidFill>
          <a:ln>
            <a:solidFill>
              <a:srgbClr val="E0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138160" y="4498848"/>
            <a:ext cx="3474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64646"/>
                </a:solidFill>
              </a:defRPr>
            </a:pPr>
            <a:r>
              <a:t>Insights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29600" y="4681728"/>
            <a:ext cx="3291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141414"/>
                </a:solidFill>
              </a:defRPr>
            </a:pPr>
            <a:r>
              <a:t>Construction is largest, but not the only price driver.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29600" y="4892040"/>
            <a:ext cx="3291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141414"/>
                </a:solidFill>
              </a:defRPr>
            </a:pPr>
            <a:r>
              <a:t>Raw land is small; uplift happens later in the pipeline.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29600" y="5102352"/>
            <a:ext cx="3291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141414"/>
                </a:solidFill>
              </a:defRPr>
            </a:pPr>
            <a:r>
              <a:t>Land transformation, infra, and compliance create major uplift.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29600" y="5312664"/>
            <a:ext cx="3291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141414"/>
                </a:solidFill>
              </a:defRPr>
            </a:pPr>
            <a:r>
              <a:t>Max-lend norms can support inflated pricing toward debt limits.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11480" y="5742432"/>
            <a:ext cx="11338560" cy="658368"/>
          </a:xfrm>
          <a:prstGeom prst="rect">
            <a:avLst/>
          </a:prstGeom>
          <a:solidFill>
            <a:srgbClr val="363A42"/>
          </a:solidFill>
          <a:ln>
            <a:solidFill>
              <a:srgbClr val="363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58368" y="5943600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Prices are often pulled toward max deposit plus max borrowing capacity, allowing margins and embedded costs to expand beyond core build economics.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11480" y="6446520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464646"/>
                </a:solidFill>
              </a:defRPr>
            </a:pPr>
            <a:r>
              <a:t>Illustrative scenario calibrated from project research ranges in new_home_development.txt.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