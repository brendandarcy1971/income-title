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Australia already runs complex social systems with hard fiscal discipline.</a:t>
            </a:r>
          </a:p>
          <a:p/>
          <a:p>
            <a:r>
              <a:t>HECS demonstrates that income-linked repayment can preserve access while managing burden over time. PBS demonstrates that a clear purchasing framework with transparent rules can sustain long-term price discipline.</a:t>
            </a:r>
          </a:p>
          <a:p/>
          <a:p>
            <a:r>
              <a:t>Income Title combines those logics. From HECS, household repayment scales with capacity. From PBS, system delivery uses rules, benchmarking, and disciplined procurement.</a:t>
            </a:r>
          </a:p>
          <a:p/>
          <a:p>
            <a:r>
              <a:t>This is why the model is credible: it adapts proven Australian mechanisms rather than inventing an untested structure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entry, the household gets immediate occupancy without a deposit hurdle.</a:t>
            </a:r>
          </a:p>
          <a:p/>
          <a:p>
            <a:r>
              <a:t>During progression, payments are income-linked rather than fixed mortgage servicing, improving resilience through income variability.</a:t>
            </a:r>
          </a:p>
          <a:p/>
          <a:p>
            <a:r>
              <a:t>At conversion, once the repayment threshold is met under scheme rules, title converts to full freehold.</a:t>
            </a:r>
          </a:p>
          <a:p/>
          <a:p>
            <a:r>
              <a:t>This creates clarity for households, auditable administration for government, and repeatable delivery logic for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Proven Policy Logic, New Housing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C3C3C"/>
                </a:solidFill>
              </a:defRPr>
            </a:pPr>
            <a:r>
              <a:t>Income Title combines HECS repayment design with PBS procurement discipline.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420624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HECS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Repayment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08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Access first, repayment later.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Repayment tied to capacity to pay.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Automatic collection architecture lowers friction.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Public objective with private life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572000"/>
            <a:ext cx="320040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Since 1989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Income-contingent model in 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74920"/>
            <a:ext cx="320040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26% -&gt; 34%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Bachelor degree+ attainment, 2016 to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2194560" cy="3657600"/>
          </a:xfrm>
          <a:prstGeom prst="rect">
            <a:avLst/>
          </a:prstGeom>
          <a:solidFill>
            <a:srgbClr val="4B4E55"/>
          </a:solidFill>
          <a:ln>
            <a:solidFill>
              <a:srgbClr val="4B4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Transfer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Housing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1828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Access now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Pay by income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Standard product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Structured purchasing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371600"/>
            <a:ext cx="3657600" cy="420624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PBS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9659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Procurement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3108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Government sets purchasing framework.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Standard specifications reduce fragmentation.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Price discipline via rules and disclosure.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Scale buying power improves value for 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4572000"/>
            <a:ext cx="320040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226.0 million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Annual subsidised prescriptions, 2024-25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5074920"/>
            <a:ext cx="320040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$19.1 billion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Government PBS expenditure, 2024-25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F5F5F"/>
                </a:solidFill>
              </a:defRPr>
            </a:pPr>
            <a:r>
              <a:t>Sources: PBS Expenditure and Prescriptions Reports 2023-24 and 2024-25; ABS Education and Work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t>Income Title Lifecycle: Enter, Repay by Income, Convert to Freehold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C3C3C"/>
                </a:solidFill>
              </a:defRPr>
            </a:pPr>
            <a:r>
              <a:t>Occupancy starts immediately. Ownership is completed through structured income-linked repayment.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108960" cy="2194560"/>
          </a:xfrm>
          <a:prstGeom prst="rect">
            <a:avLst/>
          </a:prstGeom>
          <a:solidFill>
            <a:srgbClr val="006666"/>
          </a:solidFill>
          <a:ln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Eligible household allocated compliant home.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No deposit barrier.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Immediate occupancy rights begin.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108960" cy="2194560"/>
          </a:xfrm>
          <a:prstGeom prst="rect">
            <a:avLst/>
          </a:prstGeom>
          <a:solidFill>
            <a:srgbClr val="4B4E55"/>
          </a:solidFill>
          <a:ln>
            <a:solidFill>
              <a:srgbClr val="4B4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Income-Linked Progression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Annual contribution set as share of household income.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Standard administration and compliance rules.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Mobility pathways for transfer or sale.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108960" cy="2194560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Title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945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When repayment threshold is reached, title converts.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Household holds full freehold ownership.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Scheme balance closes for that dwelling.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3320" y="2468880"/>
            <a:ext cx="457200" cy="228600"/>
          </a:xfrm>
          <a:prstGeom prst="rightArrow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52360" y="2468880"/>
            <a:ext cx="457200" cy="228600"/>
          </a:xfrm>
          <a:prstGeom prst="rightArrow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$350k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Target delivered cost per home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4114800"/>
            <a:ext cx="246888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$100k + $250k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Indicative land/build split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114800"/>
            <a:ext cx="201168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10-12%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Payment rate of income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4114800"/>
            <a:ext cx="201168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$8k-$10k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Minimum annual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80" y="4114800"/>
            <a:ext cx="1645920" cy="457200"/>
          </a:xfrm>
          <a:prstGeom prst="rect">
            <a:avLst/>
          </a:prstGeom>
          <a:solidFill>
            <a:srgbClr val="EBEFF3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$300k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Indexed cap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11155680" cy="640080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Clear entry rules. Predictable repayment rules. Automatic conversion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