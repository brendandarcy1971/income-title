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glossary slide defines the terms used in Slide 4 so interpretation is consistent.</a:t>
            </a:r>
          </a:p>
          <a:p/>
          <a:p>
            <a:r>
              <a:t>On the left, the waterfall terms describe where cost layers arise from raw land through delivery and sale.</a:t>
            </a:r>
          </a:p>
          <a:p/>
          <a:p>
            <a:r>
              <a:t>On the right, the lending terms explain how borrowing-capacity assumptions translate into loan size and repayment burden.</a:t>
            </a:r>
          </a:p>
          <a:p/>
          <a:p>
            <a:r>
              <a:t>The key point is that Slide 4 combines two systems: cost formation and financing constraints. Understanding both is necessary to understand why final prices can move away from core build cost.</a:t>
            </a:r>
          </a:p>
          <a:p/>
          <a:p>
            <a:r>
              <a:t>Treat the numbers as an illustrative scenario, not a universal constant across all submarkets.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</a:defRPr>
            </a:pPr>
            <a:r>
              <a:t>Slide 4.1: Glossary for Cost and Lending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64646"/>
                </a:solidFill>
              </a:defRPr>
            </a:pPr>
            <a:r>
              <a:t>Definitions for the terms used in the Slide 4 waterfall and mortgage-capacity panel.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5715000" cy="466344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188720"/>
            <a:ext cx="549554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64646"/>
                </a:solidFill>
              </a:defRPr>
            </a:pPr>
            <a:r>
              <a:t>Cost-Formation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1426464"/>
            <a:ext cx="54955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Raw land acquisition: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572768"/>
            <a:ext cx="54589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141414"/>
                </a:solidFill>
              </a:defRPr>
            </a:pPr>
            <a:r>
              <a:t>Purchase price of undeveloped land before rezoning and servicing.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828800"/>
            <a:ext cx="54955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Rezoning/scarcity uplift: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1975104"/>
            <a:ext cx="54589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141414"/>
                </a:solidFill>
              </a:defRPr>
            </a:pPr>
            <a:r>
              <a:t>Value uplift from planning status, constrained supply, and permissions.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231136"/>
            <a:ext cx="54955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Infrastructure and civil works: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377440"/>
            <a:ext cx="54589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141414"/>
                </a:solidFill>
              </a:defRPr>
            </a:pPr>
            <a:r>
              <a:t>Site servicing and subdivision works including roads, utilities, and drainage.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2633472"/>
            <a:ext cx="54955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Construction hard cost: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2779776"/>
            <a:ext cx="54589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141414"/>
                </a:solidFill>
              </a:defRPr>
            </a:pPr>
            <a:r>
              <a:t>Direct dwelling build costs: materials, labor, and core subcontract scope.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3035808"/>
            <a:ext cx="54955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Taxes/fees/compliance: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" y="3182112"/>
            <a:ext cx="54589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141414"/>
                </a:solidFill>
              </a:defRPr>
            </a:pPr>
            <a:r>
              <a:t>Statutory charges, applications, and regulatory compliance costs.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3438144"/>
            <a:ext cx="54955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Overheads/risk/margin: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" y="3584448"/>
            <a:ext cx="54589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141414"/>
                </a:solidFill>
              </a:defRPr>
            </a:pPr>
            <a:r>
              <a:t>Overhead allocation, risk pricing, and commercial margin.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3840480"/>
            <a:ext cx="54955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Final product price: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" y="3986784"/>
            <a:ext cx="54589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141414"/>
                </a:solidFill>
              </a:defRPr>
            </a:pPr>
            <a:r>
              <a:t>End market price paid by the buyer for completed home and lot.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115568"/>
            <a:ext cx="5440680" cy="4663440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1188720"/>
            <a:ext cx="522122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64646"/>
                </a:solidFill>
              </a:defRPr>
            </a:pPr>
            <a:r>
              <a:t>Lending and Repayment Terms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1426464"/>
            <a:ext cx="52212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Lending multiple: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1572768"/>
            <a:ext cx="51846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141414"/>
                </a:solidFill>
              </a:defRPr>
            </a:pPr>
            <a:r>
              <a:t>Simplified borrowing-capacity ratio based on gross income (for example 5x).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1828800"/>
            <a:ext cx="52212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Maximum borrowing capacity: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1975104"/>
            <a:ext cx="51846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141414"/>
                </a:solidFill>
              </a:defRPr>
            </a:pPr>
            <a:r>
              <a:t>Highest indicative loan amount permitted by lender serviceability settings.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2231136"/>
            <a:ext cx="52212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Deposit: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2377440"/>
            <a:ext cx="51846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141414"/>
                </a:solidFill>
              </a:defRPr>
            </a:pPr>
            <a:r>
              <a:t>Upfront buyer equity contributed to purchase.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2633472"/>
            <a:ext cx="52212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Loan required: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2779776"/>
            <a:ext cx="51846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141414"/>
                </a:solidFill>
              </a:defRPr>
            </a:pPr>
            <a:r>
              <a:t>Purchase price minus deposit.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3035808"/>
            <a:ext cx="52212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Mortgage interest rate: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3182112"/>
            <a:ext cx="51846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141414"/>
                </a:solidFill>
              </a:defRPr>
            </a:pPr>
            <a:r>
              <a:t>Annual loan rate used to calculate repayments.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3438144"/>
            <a:ext cx="52212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Loan term: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3096" y="3584448"/>
            <a:ext cx="51846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141414"/>
                </a:solidFill>
              </a:defRPr>
            </a:pPr>
            <a:r>
              <a:t>Repayment duration (for example 30 years).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3840480"/>
            <a:ext cx="52212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Monthly repayment: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3096" y="3986784"/>
            <a:ext cx="51846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141414"/>
                </a:solidFill>
              </a:defRPr>
            </a:pPr>
            <a:r>
              <a:t>Periodic mortgage payment implied by loan amount, rate, and term.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4242816"/>
            <a:ext cx="52212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1414"/>
                </a:solidFill>
              </a:defRPr>
            </a:pPr>
            <a:r>
              <a:t>Repayment burden: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3096" y="4389120"/>
            <a:ext cx="51846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141414"/>
                </a:solidFill>
              </a:defRPr>
            </a:pPr>
            <a:r>
              <a:t>Annual mortgage repayments divided by gross household income.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870448"/>
            <a:ext cx="11384280" cy="475488"/>
          </a:xfrm>
          <a:prstGeom prst="rect">
            <a:avLst/>
          </a:prstGeom>
          <a:solidFill>
            <a:srgbClr val="363A42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007608"/>
            <a:ext cx="10881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Slide 4 is an illustrative system-economics view: it explains price formation mechanics and financing pressure points, not a single universal market outcome.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41908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464646"/>
                </a:solidFill>
              </a:defRPr>
            </a:pPr>
            <a:r>
              <a:t>Caveat: calculator outputs are stylized and exclude insurance, rates, maintenance, transaction costs, and lender buffer-policy variations.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