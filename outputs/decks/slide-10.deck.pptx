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presents procurement as a system, not a one-off build contract.</a:t>
            </a:r>
          </a:p>
          <a:p/>
          <a:p>
            <a:r>
              <a:t>Government sets the non-negotiables: product definition, compliance, cost-discipline settings, and land-release coordination.</a:t>
            </a:r>
          </a:p>
          <a:p/>
          <a:p>
            <a:r>
              <a:t>Procurement remains open to multiple compliant bidders, and contracts are awarded on competitive delivery performance.</a:t>
            </a:r>
          </a:p>
          <a:p/>
          <a:p>
            <a:r>
              <a:t>Different construction methods can compete, but each must deliver the same audited output standard.</a:t>
            </a:r>
          </a:p>
          <a:p/>
          <a:p>
            <a:r>
              <a:t>This is how policy control and market competition can coexist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414"/>
                </a:solidFill>
              </a:defRPr>
            </a:pPr>
            <a:r>
              <a:t>Procurement Architecture: Public Rules, Competitive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Set the specification once, open the market to compliant bidders, and enforce transparent cost and quality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429000" cy="36118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429000" cy="365760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335024"/>
            <a:ext cx="3172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1. Government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691640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Define fixed housing product and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93392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Set indicative cost cap and review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295144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Set compliance, audit, and reporting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596896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Control serviced land release into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3429000" cy="36118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34440"/>
            <a:ext cx="3429000" cy="36576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335024"/>
            <a:ext cx="3172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2. Procurement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691640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Open participation tender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93392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Eligibility gate: capability +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295144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Evaluate price, speed, quality, 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96896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Award across multiple contractors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234440"/>
            <a:ext cx="3429000" cy="36118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234440"/>
            <a:ext cx="3429000" cy="365760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35024"/>
            <a:ext cx="3172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3. Delivery Pathways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691640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Prefab and modular pathway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1993392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Onsite systemised pathway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295144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3D-assisted automated 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96896"/>
            <a:ext cx="3154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All pathways meet one output standard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977639" y="2788920"/>
            <a:ext cx="384048" cy="201168"/>
          </a:xfrm>
          <a:prstGeom prst="rightArrow">
            <a:avLst/>
          </a:prstGeom>
          <a:solidFill>
            <a:srgbClr val="A0A7B0"/>
          </a:solidFill>
          <a:ln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845552" y="2788920"/>
            <a:ext cx="384048" cy="201168"/>
          </a:xfrm>
          <a:prstGeom prst="rightArrow">
            <a:avLst/>
          </a:prstGeom>
          <a:solidFill>
            <a:srgbClr val="A0A7B0"/>
          </a:solidFill>
          <a:ln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83480"/>
            <a:ext cx="2697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074920"/>
            <a:ext cx="2551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464646"/>
                </a:solidFill>
              </a:defRPr>
            </a:pPr>
            <a:r>
              <a:t>Open market participation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983480"/>
            <a:ext cx="2697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5074920"/>
            <a:ext cx="2551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464646"/>
                </a:solidFill>
              </a:defRPr>
            </a:pPr>
            <a:r>
              <a:t>Standardised output quality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983480"/>
            <a:ext cx="2697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5074920"/>
            <a:ext cx="2551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464646"/>
                </a:solidFill>
              </a:defRPr>
            </a:pPr>
            <a:r>
              <a:t>Cost transparency + discipline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4983480"/>
            <a:ext cx="21488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5074920"/>
            <a:ext cx="200253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464646"/>
                </a:solidFill>
              </a:defRPr>
            </a:pPr>
            <a:r>
              <a:t>Scalable 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715000"/>
            <a:ext cx="11338560" cy="658368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07024"/>
            <a:ext cx="10972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Government sets the rules and guardrails; private industry competes inside them to deliver the same audited housing product.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37376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Architecture from docs/slides/slide-10.plan.md.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