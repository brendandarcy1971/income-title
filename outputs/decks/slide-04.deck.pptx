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framing is that housing is expensive because it is expensive to build. This chart shows a broader reality.</a:t>
            </a:r>
          </a:p>
          <a:p/>
          <a:p>
            <a:r>
              <a:t>The left chart uses a waterfall to show cumulative price formation from raw land through delivery layers to final price. In outer major-city areas, the final price can sit in a 600,000 to 1,000,000 range.</a:t>
            </a:r>
          </a:p>
          <a:p/>
          <a:p>
            <a:r>
              <a:t>Under each bar, ranges show how the same category scales across that 600,000 to 1,000,000 market band.</a:t>
            </a:r>
          </a:p>
          <a:p/>
          <a:p>
            <a:r>
              <a:t>Land-system and delivery layers create large uplift before the keys are handed over: land transformation, infrastructure, compliance, and risk-loaded margins.</a:t>
            </a:r>
          </a:p>
          <a:p/>
          <a:p>
            <a:r>
              <a:t>In this slide, rezoning/scarcity uplift means the planning-conversion premium: the value jump between raw land and approval-ready land, amplified when only limited serviced lots are released and when approval delays add carrying risk.</a:t>
            </a:r>
          </a:p>
          <a:p/>
          <a:p>
            <a:r>
              <a:t>On the right, the mortgage-capacity panel shows the financing anchor. For a household on 120,000 with a 40,000 deposit and a 5x lending multiple, maximum borrowing capacity is 600,000, but this scenario holds purchase price at 600,000.</a:t>
            </a:r>
          </a:p>
          <a:p/>
          <a:p>
            <a:r>
              <a:t>At 6% over 30 years, the required 560,000 loan implies repayments of about 3,358 per month, or about 33.6% of gross income.</a:t>
            </a:r>
          </a:p>
          <a:p/>
          <a:p>
            <a:r>
              <a:t>So margins and embedded costs do not just reflect technical delivery input costs. They can expand toward available finance.</a:t>
            </a:r>
          </a:p>
          <a:p/>
          <a:p>
            <a:r>
              <a:t>That is why policy reform has to focus on system economics, not only construction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Diagnosis: What Is Actually Expensive?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64646"/>
                </a:solidFill>
              </a:defRPr>
            </a:pPr>
            <a:r>
              <a:t>Show cost build-up as a waterfall from raw land to final price, then show how lending-capacity settings push households to max borrow.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7452360" cy="434340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4646"/>
                </a:solidFill>
              </a:defRPr>
            </a:pPr>
            <a:r>
              <a:t>Waterfall: cost formation per dwelling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28016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Range: $600k to $1.0m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7178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Rezoning/scarcity uplift = value jump from non-urban land to approval-ready lots when serviced-lot supply is constrained.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6995160" cy="9144"/>
          </a:xfrm>
          <a:prstGeom prst="rect">
            <a:avLst/>
          </a:prstGeom>
          <a:solidFill>
            <a:srgbClr val="B4BAC2"/>
          </a:solidFill>
          <a:ln>
            <a:solidFill>
              <a:srgbClr val="B4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42231"/>
            <a:ext cx="713232" cy="64008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59" y="397763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1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Raw</a:t>
            </a:r>
            <a:br/>
            <a:r>
              <a:t>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20k-30k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87068" y="3822191"/>
            <a:ext cx="713232" cy="320039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1348" y="365759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3060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Rezoning</a:t>
            </a:r>
            <a:br/>
            <a:r>
              <a:t>/ scarcity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2204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80k-130k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4056" y="3502151"/>
            <a:ext cx="713232" cy="32004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333755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Infra</a:t>
            </a:r>
            <a:br/>
            <a:r>
              <a:t>+ civil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9192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80k-130k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1044" y="2221991"/>
            <a:ext cx="713232" cy="1280160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5324" y="2057399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50.0%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7035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6180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300k-500k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28032" y="1965959"/>
            <a:ext cx="713232" cy="256032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1801367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4024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Taxes</a:t>
            </a:r>
            <a:br/>
            <a:r>
              <a:t>+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60k-100k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5020" y="1645919"/>
            <a:ext cx="713232" cy="320039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9300" y="1481328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12.5%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1012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Overheads</a:t>
            </a:r>
            <a:br/>
            <a:r>
              <a:t>+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0156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80k-130k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2008" y="1645919"/>
            <a:ext cx="713232" cy="256032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6288" y="1481328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251959"/>
            <a:ext cx="8412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Final</a:t>
            </a:r>
            <a:br/>
            <a:r>
              <a:t>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7144" y="457200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41414"/>
                </a:solidFill>
              </a:defRPr>
            </a:pPr>
            <a:r>
              <a:t>600k-1,000k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21807"/>
            <a:ext cx="7178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Range labels under bars are dollar equivalents across the $600k to $1.0m band.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1234440"/>
            <a:ext cx="3749039" cy="306324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12801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4646"/>
                </a:solidFill>
              </a:defRPr>
            </a:pPr>
            <a:r>
              <a:t>Mortgage-capacity scenario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1554480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Inputs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171907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Income: $120,000 p.a.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190195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Deposit: $40,000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208483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Lending multiple: 5x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226771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Rate: 6.0%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2450592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Term: 30 years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2706624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287121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Max loan @ 5x: $600,000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305409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Assumed purchase: $600,000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323697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Loan required: $560,000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341985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AA2D2D"/>
                </a:solidFill>
              </a:defRPr>
            </a:pPr>
            <a:r>
              <a:t>Monthly repayment: $3,358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360273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Annual repayment: $40,296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3785616"/>
            <a:ext cx="3383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2D2D"/>
                </a:solidFill>
              </a:defRPr>
            </a:pPr>
            <a:r>
              <a:t>Repayment burden: 33.6% of income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069080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Repayment excludes rates, insurance, maintenance, and transaction costs.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4434840"/>
            <a:ext cx="3749039" cy="1143000"/>
          </a:xfrm>
          <a:prstGeom prst="rect">
            <a:avLst/>
          </a:prstGeom>
          <a:solidFill>
            <a:srgbClr val="F8FAFC"/>
          </a:solidFill>
          <a:ln>
            <a:solidFill>
              <a:srgbClr val="E0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449884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4646"/>
                </a:solidFill>
              </a:defRPr>
            </a:pPr>
            <a:r>
              <a:t>Insights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681728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Construction is largest, but not the only price driver.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892040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Raw land is small; value lifts after planning conversion.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102352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Rezoning uplift reflects approvals limits + delay risk + scarcity.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5312664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41414"/>
                </a:solidFill>
              </a:defRPr>
            </a:pPr>
            <a:r>
              <a:t>Max-lend norms can support inflated pricing toward debt limits.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5742432"/>
            <a:ext cx="11338560" cy="658368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59436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Prices are often pulled toward max deposit plus max borrowing capacity, allowing margins and embedded costs to expand beyond core build economics.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Illustrative scenario calibrated from project research ranges in new_home_development.txt.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