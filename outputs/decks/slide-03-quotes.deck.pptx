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here to humanise the housing problem before moving into system diagnosis.</a:t>
            </a:r>
          </a:p>
          <a:p/>
          <a:p>
            <a:r>
              <a:t>The three quotes were selected because they are short, attributable, and together cover blocked ownership, social meaning, and broad cost-of-living squeeze.</a:t>
            </a:r>
          </a:p>
          <a:p/>
          <a:p>
            <a:r>
              <a:t>The point is not that each quote proves the case on its own. The point is that the pattern is recognisable across different speakers and settings: people do not describe a temporary inconvenience, they describe a failure of normal life progression.</a:t>
            </a:r>
          </a:p>
          <a:p/>
          <a:p>
            <a:r>
              <a:t>That is why the next section shifts from sentiment to mechanics: what in the housing system is producing this outcome?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1556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41414"/>
                </a:solidFill>
              </a:defRPr>
            </a:pPr>
            <a:r>
              <a:t>Human Consequences: What People Say the Crisis Feels Like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76656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464646"/>
                </a:solidFill>
              </a:defRPr>
            </a:pPr>
            <a:r>
              <a:t>Housing stress is not abstract. It changes whether people can form households, plan families, or believe ownership is still possible.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3657600" cy="2011680"/>
          </a:xfrm>
          <a:prstGeom prst="rect">
            <a:avLst/>
          </a:prstGeom>
          <a:solidFill>
            <a:srgbClr val="F1F4F7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109728" cy="2011680"/>
          </a:xfrm>
          <a:prstGeom prst="rect">
            <a:avLst/>
          </a:prstGeom>
          <a:solidFill>
            <a:srgbClr val="1E5F66"/>
          </a:solidFill>
          <a:ln>
            <a:solidFill>
              <a:srgbClr val="1E5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49047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E5F66"/>
                </a:solidFill>
              </a:defRPr>
            </a:pPr>
            <a:r>
              <a:t>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527048"/>
            <a:ext cx="2999232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141414"/>
                </a:solidFill>
              </a:defRPr>
            </a:pPr>
            <a:r>
              <a:t>We’ve got no hope really of being able to afford a place of our own.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679191"/>
            <a:ext cx="29992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464646"/>
                </a:solidFill>
              </a:defRPr>
            </a:pPr>
            <a:r>
              <a:t>Young Australian couple interviewed on housing affordability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98648"/>
            <a:ext cx="29992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464646"/>
                </a:solidFill>
              </a:defRPr>
            </a:pPr>
            <a:r>
              <a:t>Source: ABC News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0248" y="1325880"/>
            <a:ext cx="3657600" cy="2011680"/>
          </a:xfrm>
          <a:prstGeom prst="rect">
            <a:avLst/>
          </a:prstGeom>
          <a:solidFill>
            <a:srgbClr val="F1F4F7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0248" y="1325880"/>
            <a:ext cx="109728" cy="2011680"/>
          </a:xfrm>
          <a:prstGeom prst="rect">
            <a:avLst/>
          </a:prstGeom>
          <a:solidFill>
            <a:srgbClr val="C65E1F"/>
          </a:solidFill>
          <a:ln>
            <a:solidFill>
              <a:srgbClr val="C65E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49047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C65E1F"/>
                </a:solidFill>
              </a:defRPr>
            </a:pPr>
            <a:r>
              <a:t>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1527048"/>
            <a:ext cx="2999232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141414"/>
                </a:solidFill>
              </a:defRPr>
            </a:pPr>
            <a:r>
              <a:t>There is a huge issue… where housing is seen as an asset, not a human right.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2679191"/>
            <a:ext cx="29992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464646"/>
                </a:solidFill>
              </a:defRPr>
            </a:pPr>
            <a:r>
              <a:t>Interviewee describing systemic housing problems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4296" y="2898648"/>
            <a:ext cx="29992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464646"/>
                </a:solidFill>
              </a:defRPr>
            </a:pPr>
            <a:r>
              <a:t>Source: ABC News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7575" y="1325880"/>
            <a:ext cx="3657600" cy="2011680"/>
          </a:xfrm>
          <a:prstGeom prst="rect">
            <a:avLst/>
          </a:prstGeom>
          <a:solidFill>
            <a:srgbClr val="F1F4F7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37575" y="1325880"/>
            <a:ext cx="109728" cy="2011680"/>
          </a:xfrm>
          <a:prstGeom prst="rect">
            <a:avLst/>
          </a:prstGeom>
          <a:solidFill>
            <a:srgbClr val="363A42"/>
          </a:solidFill>
          <a:ln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7" y="149047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363A42"/>
                </a:solidFill>
              </a:defRPr>
            </a:pPr>
            <a:r>
              <a:t>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1624" y="1527048"/>
            <a:ext cx="2999232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141414"/>
                </a:solidFill>
              </a:defRPr>
            </a:pPr>
            <a:r>
              <a:t>Renters and owner-occupiers are being squeezed by cost of living and the housing crisis.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1624" y="2679191"/>
            <a:ext cx="29992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464646"/>
                </a:solidFill>
              </a:defRPr>
            </a:pPr>
            <a:r>
              <a:t>Student and union housing campaign representatives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21624" y="2898648"/>
            <a:ext cx="29992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464646"/>
                </a:solidFill>
              </a:defRPr>
            </a:pPr>
            <a:r>
              <a:t>Source: CityHub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675887"/>
            <a:ext cx="11192256" cy="1444752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822191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64646"/>
                </a:solidFill>
              </a:defRPr>
            </a:pPr>
            <a:r>
              <a:t>What these quotes show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096512"/>
            <a:ext cx="10515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4"/>
                </a:solidFill>
              </a:defRPr>
            </a:pPr>
            <a:r>
              <a:t>• The problem is felt as blocked entry, not just higher prices.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4352544"/>
            <a:ext cx="10515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4"/>
                </a:solidFill>
              </a:defRPr>
            </a:pPr>
            <a:r>
              <a:t>• People describe housing as a social contract failure, not a normal market cycle.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4608576"/>
            <a:ext cx="10515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4"/>
                </a:solidFill>
              </a:defRPr>
            </a:pPr>
            <a:r>
              <a:t>• The crisis is influencing family formation, life planning, and trust in institutions.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5989320"/>
            <a:ext cx="11338560" cy="548640"/>
          </a:xfrm>
          <a:prstGeom prst="rect">
            <a:avLst/>
          </a:prstGeom>
          <a:solidFill>
            <a:srgbClr val="363A42"/>
          </a:solidFill>
          <a:ln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6163056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If mainstream workers and renters believe normal housing milestones are gone, the issue is no longer cyclical affordability pressure. It is structural exclusion.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547104"/>
            <a:ext cx="11155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464646"/>
                </a:solidFill>
              </a:defRPr>
            </a:pPr>
            <a:r>
              <a:t>Source file: research/quotes.txt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