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a simple question: what exactly are we delivering?</a:t>
            </a:r>
          </a:p>
          <a:p/>
          <a:p>
            <a:r>
              <a:t>Income Title is not a broad subsidy for whatever the market supplies. It is a defined home product with fixed minimum standards.</a:t>
            </a:r>
          </a:p>
          <a:p/>
          <a:p>
            <a:r>
              <a:t>The NSW Housing Pattern Book is the practical precedent: reusable templates with controlled adaptation can keep quality consistent while reducing redesign and approvals friction.</a:t>
            </a:r>
          </a:p>
          <a:p/>
          <a:p>
            <a:r>
              <a:t>That matters for execution. Standardisation improves procurement comparability, reduces design churn, and helps keep quality and cost inside clear bounds.</a:t>
            </a:r>
          </a:p>
          <a:p/>
          <a:p>
            <a:r>
              <a:t>For households, these are normal family homes: three bedrooms, two bathrooms, two living zones, single-storey form, and practical liveability.</a:t>
            </a:r>
          </a:p>
          <a:p/>
          <a:p>
            <a:r>
              <a:t>For government and delivery partners, the product is measurable and auditable. That supports faster approvals, cleaner tendering, and reliable scale-up.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41414"/>
                </a:solidFill>
              </a:defRPr>
            </a:pPr>
            <a:r>
              <a:t>Product Definition: What Is Being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64646"/>
                </a:solidFill>
              </a:defRPr>
            </a:pPr>
            <a:r>
              <a:t>NSW Pattern Book precedent: fixed minimum specs with controlled site adaptation, private backyard, and integrated parking.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7086600" cy="461772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307592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64646"/>
                </a:solidFill>
              </a:defRPr>
            </a:pPr>
            <a:r>
              <a:t>Illustrative Marketing Floorplan + 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855464" y="1307592"/>
            <a:ext cx="822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28616" y="1353312"/>
            <a:ext cx="67665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8616" y="1472184"/>
            <a:ext cx="67665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65E1F"/>
                </a:solidFill>
              </a:defRPr>
            </a:pPr>
            <a:r>
              <a:t>~375 sqm</a:t>
            </a:r>
          </a:p>
        </p:txBody>
      </p:sp>
      <p:sp>
        <p:nvSpPr>
          <p:cNvPr id="9" name="Rectangle 8"/>
          <p:cNvSpPr/>
          <p:nvPr/>
        </p:nvSpPr>
        <p:spPr>
          <a:xfrm>
            <a:off x="5742432" y="1307592"/>
            <a:ext cx="822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15584" y="1353312"/>
            <a:ext cx="67665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584" y="1472184"/>
            <a:ext cx="67665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65E1F"/>
                </a:solidFill>
              </a:defRPr>
            </a:pPr>
            <a:r>
              <a:t>~148 sqm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1307592"/>
            <a:ext cx="822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1353312"/>
            <a:ext cx="67665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PARKING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1472184"/>
            <a:ext cx="67665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65E1F"/>
                </a:solidFill>
              </a:defRPr>
            </a:pPr>
            <a:r>
              <a:t>1 + drive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45920"/>
            <a:ext cx="5897880" cy="3657600"/>
          </a:xfrm>
          <a:prstGeom prst="rect">
            <a:avLst/>
          </a:prstGeom>
          <a:solidFill>
            <a:srgbClr val="F6FCF6"/>
          </a:solidFill>
          <a:ln>
            <a:solidFill>
              <a:srgbClr val="AAB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572768"/>
            <a:ext cx="5897880" cy="9144"/>
          </a:xfrm>
          <a:prstGeom prst="rect">
            <a:avLst/>
          </a:prstGeom>
          <a:solidFill>
            <a:srgbClr val="B0B8C2"/>
          </a:solidFill>
          <a:ln>
            <a:solidFill>
              <a:srgbClr val="B0B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1527048"/>
            <a:ext cx="9144" cy="91440"/>
          </a:xfrm>
          <a:prstGeom prst="rect">
            <a:avLst/>
          </a:prstGeom>
          <a:solidFill>
            <a:srgbClr val="B0B8C2"/>
          </a:solidFill>
          <a:ln>
            <a:solidFill>
              <a:srgbClr val="B0B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28816" y="1527048"/>
            <a:ext cx="9144" cy="91440"/>
          </a:xfrm>
          <a:prstGeom prst="rect">
            <a:avLst/>
          </a:prstGeom>
          <a:solidFill>
            <a:srgbClr val="B0B8C2"/>
          </a:solidFill>
          <a:ln>
            <a:solidFill>
              <a:srgbClr val="B0B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1417320"/>
            <a:ext cx="164592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464646"/>
                </a:solidFill>
              </a:defRPr>
            </a:pPr>
            <a:r>
              <a:t>Lot width ~12.5m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1645920"/>
            <a:ext cx="9144" cy="3657600"/>
          </a:xfrm>
          <a:prstGeom prst="rect">
            <a:avLst/>
          </a:prstGeom>
          <a:solidFill>
            <a:srgbClr val="B0B8C2"/>
          </a:solidFill>
          <a:ln>
            <a:solidFill>
              <a:srgbClr val="B0B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7" y="1645920"/>
            <a:ext cx="91440" cy="9144"/>
          </a:xfrm>
          <a:prstGeom prst="rect">
            <a:avLst/>
          </a:prstGeom>
          <a:solidFill>
            <a:srgbClr val="B0B8C2"/>
          </a:solidFill>
          <a:ln>
            <a:solidFill>
              <a:srgbClr val="B0B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207" y="5294376"/>
            <a:ext cx="91440" cy="9144"/>
          </a:xfrm>
          <a:prstGeom prst="rect">
            <a:avLst/>
          </a:prstGeom>
          <a:solidFill>
            <a:srgbClr val="B0B8C2"/>
          </a:solidFill>
          <a:ln>
            <a:solidFill>
              <a:srgbClr val="B0B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79" y="3346704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464646"/>
                </a:solidFill>
              </a:defRPr>
            </a:pPr>
            <a:r>
              <a:t>Lot depth</a:t>
            </a:r>
            <a:br/>
            <a:r>
              <a:t>~30m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828031"/>
            <a:ext cx="5897880" cy="475488"/>
          </a:xfrm>
          <a:prstGeom prst="rect">
            <a:avLst/>
          </a:prstGeom>
          <a:solidFill>
            <a:srgbClr val="E7ECF0"/>
          </a:solidFill>
          <a:ln>
            <a:solidFill>
              <a:srgbClr val="C3C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4974336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Street frontage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7" y="3840479"/>
            <a:ext cx="877824" cy="987552"/>
          </a:xfrm>
          <a:prstGeom prst="rect">
            <a:avLst/>
          </a:prstGeom>
          <a:solidFill>
            <a:srgbClr val="ECEFF2"/>
          </a:solidFill>
          <a:ln>
            <a:solidFill>
              <a:srgbClr val="C6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4681727"/>
            <a:ext cx="731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Driveway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7" y="3054095"/>
            <a:ext cx="1353312" cy="786384"/>
          </a:xfrm>
          <a:prstGeom prst="rect">
            <a:avLst/>
          </a:prstGeom>
          <a:solidFill>
            <a:srgbClr val="F2F5F8"/>
          </a:solidFill>
          <a:ln>
            <a:solidFill>
              <a:srgbClr val="C2C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3410711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464646"/>
                </a:solidFill>
              </a:defRPr>
            </a:pPr>
            <a:r>
              <a:t>Garage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0280" y="1792224"/>
            <a:ext cx="4114800" cy="786384"/>
          </a:xfrm>
          <a:prstGeom prst="rect">
            <a:avLst/>
          </a:prstGeom>
          <a:solidFill>
            <a:srgbClr val="E5F6E8"/>
          </a:solidFill>
          <a:ln>
            <a:solidFill>
              <a:srgbClr val="AEC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2084832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464646"/>
                </a:solidFill>
              </a:defRPr>
            </a:pPr>
            <a:r>
              <a:t>Private Backyard</a:t>
            </a:r>
          </a:p>
        </p:txBody>
      </p:sp>
      <p:sp>
        <p:nvSpPr>
          <p:cNvPr id="32" name="Oval 31"/>
          <p:cNvSpPr/>
          <p:nvPr/>
        </p:nvSpPr>
        <p:spPr>
          <a:xfrm>
            <a:off x="2423160" y="1920240"/>
            <a:ext cx="109728" cy="109728"/>
          </a:xfrm>
          <a:prstGeom prst="ellipse">
            <a:avLst/>
          </a:prstGeom>
          <a:solidFill>
            <a:srgbClr val="C9E5C6"/>
          </a:solidFill>
          <a:ln>
            <a:solidFill>
              <a:srgbClr val="A1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578608" y="2057400"/>
            <a:ext cx="91440" cy="91440"/>
          </a:xfrm>
          <a:prstGeom prst="ellipse">
            <a:avLst/>
          </a:prstGeom>
          <a:solidFill>
            <a:srgbClr val="C9E5C6"/>
          </a:solidFill>
          <a:ln>
            <a:solidFill>
              <a:srgbClr val="A1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24911" y="1920240"/>
            <a:ext cx="109728" cy="109728"/>
          </a:xfrm>
          <a:prstGeom prst="ellipse">
            <a:avLst/>
          </a:prstGeom>
          <a:solidFill>
            <a:srgbClr val="C9E5C6"/>
          </a:solidFill>
          <a:ln>
            <a:solidFill>
              <a:srgbClr val="A1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79008" y="1920240"/>
            <a:ext cx="109728" cy="109728"/>
          </a:xfrm>
          <a:prstGeom prst="ellipse">
            <a:avLst/>
          </a:prstGeom>
          <a:solidFill>
            <a:srgbClr val="C9E5C6"/>
          </a:solidFill>
          <a:ln>
            <a:solidFill>
              <a:srgbClr val="A1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43600" y="2057400"/>
            <a:ext cx="91440" cy="91440"/>
          </a:xfrm>
          <a:prstGeom prst="ellipse">
            <a:avLst/>
          </a:prstGeom>
          <a:solidFill>
            <a:srgbClr val="C9E5C6"/>
          </a:solidFill>
          <a:ln>
            <a:solidFill>
              <a:srgbClr val="A1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080760" y="1920240"/>
            <a:ext cx="109728" cy="109728"/>
          </a:xfrm>
          <a:prstGeom prst="ellipse">
            <a:avLst/>
          </a:prstGeom>
          <a:solidFill>
            <a:srgbClr val="C9E5C6"/>
          </a:solidFill>
          <a:ln>
            <a:solidFill>
              <a:srgbClr val="A1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40280" y="2606040"/>
            <a:ext cx="4114800" cy="1901952"/>
          </a:xfrm>
          <a:prstGeom prst="rect">
            <a:avLst/>
          </a:prstGeom>
          <a:solidFill>
            <a:srgbClr val="FDFEFF"/>
          </a:solidFill>
          <a:ln>
            <a:solidFill>
              <a:srgbClr val="A9B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31720" y="2697480"/>
            <a:ext cx="1170432" cy="713232"/>
          </a:xfrm>
          <a:prstGeom prst="rect">
            <a:avLst/>
          </a:prstGeom>
          <a:solidFill>
            <a:srgbClr val="F5F9FC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41448" y="2990088"/>
            <a:ext cx="91440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Bed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66160" y="2697480"/>
            <a:ext cx="1005840" cy="713232"/>
          </a:xfrm>
          <a:prstGeom prst="rect">
            <a:avLst/>
          </a:prstGeom>
          <a:solidFill>
            <a:srgbClr val="F5F9FC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13048" y="2990088"/>
            <a:ext cx="640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Bed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45152" y="2697480"/>
            <a:ext cx="932688" cy="713232"/>
          </a:xfrm>
          <a:prstGeom prst="rect">
            <a:avLst/>
          </a:prstGeom>
          <a:solidFill>
            <a:srgbClr val="F5F9FC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55464" y="2990088"/>
            <a:ext cx="640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Bed 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41848" y="2697480"/>
            <a:ext cx="621792" cy="713232"/>
          </a:xfrm>
          <a:prstGeom prst="rect">
            <a:avLst/>
          </a:prstGeom>
          <a:solidFill>
            <a:srgbClr val="FAF7F2"/>
          </a:solidFill>
          <a:ln>
            <a:solidFill>
              <a:srgbClr val="C3C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42432" y="2990088"/>
            <a:ext cx="438912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Bath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31720" y="3474720"/>
            <a:ext cx="749808" cy="941832"/>
          </a:xfrm>
          <a:prstGeom prst="rect">
            <a:avLst/>
          </a:prstGeom>
          <a:solidFill>
            <a:srgbClr val="FAF7F2"/>
          </a:solidFill>
          <a:ln>
            <a:solidFill>
              <a:srgbClr val="C3C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95728" y="3858768"/>
            <a:ext cx="5943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Ensuite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36392" y="3474720"/>
            <a:ext cx="1207008" cy="941832"/>
          </a:xfrm>
          <a:prstGeom prst="rect">
            <a:avLst/>
          </a:prstGeom>
          <a:solidFill>
            <a:srgbClr val="F3F9FC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91840" y="3858768"/>
            <a:ext cx="91440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Living 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98264" y="3474720"/>
            <a:ext cx="1865376" cy="941832"/>
          </a:xfrm>
          <a:prstGeom prst="rect">
            <a:avLst/>
          </a:prstGeom>
          <a:solidFill>
            <a:srgbClr val="F0F9F2"/>
          </a:solidFill>
          <a:ln>
            <a:solidFill>
              <a:srgbClr val="B2C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72584" y="3730752"/>
            <a:ext cx="1280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Kitchen + Dining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10328" y="3950208"/>
            <a:ext cx="91440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464646"/>
                </a:solidFill>
              </a:defRPr>
            </a:pPr>
            <a:r>
              <a:t>Family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2468880"/>
            <a:ext cx="987552" cy="182880"/>
          </a:xfrm>
          <a:prstGeom prst="rect">
            <a:avLst/>
          </a:prstGeom>
          <a:solidFill>
            <a:srgbClr val="ECF1F5"/>
          </a:solidFill>
          <a:ln>
            <a:solidFill>
              <a:srgbClr val="C6C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0" y="2487168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Alfresco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" y="4846320"/>
            <a:ext cx="146304" cy="109728"/>
          </a:xfrm>
          <a:prstGeom prst="rect">
            <a:avLst/>
          </a:prstGeom>
          <a:solidFill>
            <a:srgbClr val="F5F9FC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0119" y="4837176"/>
            <a:ext cx="9601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Internal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38528" y="4846320"/>
            <a:ext cx="146304" cy="109728"/>
          </a:xfrm>
          <a:prstGeom prst="rect">
            <a:avLst/>
          </a:prstGeom>
          <a:solidFill>
            <a:srgbClr val="E5F6E8"/>
          </a:solidFill>
          <a:ln>
            <a:solidFill>
              <a:srgbClr val="AEC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21408" y="4837176"/>
            <a:ext cx="9601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Outdoor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35808" y="4846320"/>
            <a:ext cx="146304" cy="109728"/>
          </a:xfrm>
          <a:prstGeom prst="rect">
            <a:avLst/>
          </a:prstGeom>
          <a:solidFill>
            <a:srgbClr val="ECEFF2"/>
          </a:solidFill>
          <a:ln>
            <a:solidFill>
              <a:srgbClr val="C6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18687" y="4837176"/>
            <a:ext cx="1325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Vehicle access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5394960"/>
            <a:ext cx="18288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7512" y="5440680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5F66"/>
                </a:solidFill>
              </a:defRPr>
            </a:pPr>
            <a:r>
              <a:t>3 Bedrooms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96312" y="5394960"/>
            <a:ext cx="18288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69464" y="5440680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5F66"/>
                </a:solidFill>
              </a:defRPr>
            </a:pPr>
            <a:r>
              <a:t>2 Bathrooms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98264" y="5394960"/>
            <a:ext cx="18288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71416" y="5440680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5F66"/>
                </a:solidFill>
              </a:defRPr>
            </a:pPr>
            <a:r>
              <a:t>Single garage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" y="5715000"/>
            <a:ext cx="18288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7512" y="5760720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5F66"/>
                </a:solidFill>
              </a:defRPr>
            </a:pPr>
            <a:r>
              <a:t>Private backyard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96312" y="5715000"/>
            <a:ext cx="18288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69464" y="5760720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5F66"/>
                </a:solidFill>
              </a:defRPr>
            </a:pPr>
            <a:r>
              <a:t>Driveway parking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98264" y="5715000"/>
            <a:ext cx="18288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71416" y="5760720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5F66"/>
                </a:solidFill>
              </a:defRPr>
            </a:pPr>
            <a:r>
              <a:t>Indoor-outdoor living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35240" y="1234440"/>
            <a:ext cx="4114800" cy="461772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635240" y="1234440"/>
            <a:ext cx="4114800" cy="457200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18119" y="1353312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Minimum Product Spec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18119" y="1764792"/>
            <a:ext cx="3749039" cy="411480"/>
          </a:xfrm>
          <a:prstGeom prst="rect">
            <a:avLst/>
          </a:prstGeom>
          <a:solidFill>
            <a:srgbClr val="E8F4F6"/>
          </a:solidFill>
          <a:ln>
            <a:solidFill>
              <a:srgbClr val="AF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27848" y="1837944"/>
            <a:ext cx="3529584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5F66"/>
                </a:solidFill>
              </a:defRPr>
            </a:pPr>
            <a:r>
              <a:t>NSW Pattern Book Precedent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27848" y="1984248"/>
            <a:ext cx="352958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Reusable template + controlled site adaptation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19" y="2221992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Dwelling type: Detached home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18119" y="2496312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Template basis: NSW Pattern Book-style reusable design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18119" y="2770632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Internal area target: Approx 140-160 sqm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18119" y="3044951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Bedroom count: 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19" y="3319271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Bathroom count: 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18119" y="3593591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Living zones: 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18119" y="3867911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Parking: Single garage + driveway bay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18119" y="4142231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Outdoor space: Private backyard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19" y="4416551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Accessibility baseline: Step-free entry where feasible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818119" y="4690871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Compliance: NCC and relevant state code compliant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818119" y="5120640"/>
            <a:ext cx="1170432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18119" y="5230368"/>
            <a:ext cx="11704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65E1F"/>
                </a:solidFill>
              </a:defRPr>
            </a:pPr>
            <a:r>
              <a:t>3-2-1 + drive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98280" y="5120640"/>
            <a:ext cx="1170432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098280" y="5230368"/>
            <a:ext cx="11704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65E1F"/>
                </a:solidFill>
              </a:defRPr>
            </a:pPr>
            <a:r>
              <a:t>Backyard lot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378439" y="5120640"/>
            <a:ext cx="1170432" cy="384048"/>
          </a:xfrm>
          <a:prstGeom prst="rect">
            <a:avLst/>
          </a:prstGeom>
          <a:solidFill>
            <a:srgbClr val="FFFFFF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378439" y="5230368"/>
            <a:ext cx="11704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65E1F"/>
                </a:solidFill>
              </a:defRPr>
            </a:pPr>
            <a:r>
              <a:t>Repeatable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" y="5961888"/>
            <a:ext cx="11338560" cy="548640"/>
          </a:xfrm>
          <a:prstGeom prst="rect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8368" y="6135624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NSW Pattern Book logic applied: defined product standards turn policy intent into a buildable, auditable housing unit.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11480" y="6547104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Pattern Book learnings from research/nsw.txt plus income_title_outline.txt and procurement.txt.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