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defines the household contract in four clear rules.</a:t>
            </a:r>
          </a:p>
          <a:p/>
          <a:p>
            <a:r>
              <a:t>Payments are linked to income, constrained by floor/cap settings, and completed through an auditable trigger to title conversion.</a:t>
            </a:r>
          </a:p>
          <a:p/>
          <a:p>
            <a:r>
              <a:t>The objective is stable progress to ownership with lower stress sensitivity than fixed mortgage servicing.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41414"/>
                </a:solidFill>
              </a:defRPr>
            </a:pPr>
            <a:r>
              <a:t>Financial Mechanics for Households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64646"/>
                </a:solidFill>
              </a:defRPr>
            </a:pPr>
            <a:r>
              <a:t>Repayments align to income and avoid mortgage-style compounding debt burden.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2743200" cy="182880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2743200" cy="310896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16736"/>
            <a:ext cx="252374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Rule 1: Payment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645920"/>
            <a:ext cx="25237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Indicative contribution is 10-12% of household income, aligning payment burden to capacity.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1234440"/>
            <a:ext cx="2743200" cy="182880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234440"/>
            <a:ext cx="2743200" cy="310896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316736"/>
            <a:ext cx="252374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Rule 2: Annual Floor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45920"/>
            <a:ext cx="25237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A minimum annual floor preserves progress while hardship settings can adjust timing.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9944" y="1234440"/>
            <a:ext cx="2743200" cy="182880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9944" y="1234440"/>
            <a:ext cx="2743200" cy="310896"/>
          </a:xfrm>
          <a:prstGeom prst="rect">
            <a:avLst/>
          </a:prstGeom>
          <a:solidFill>
            <a:srgbClr val="475E92"/>
          </a:solidFill>
          <a:ln>
            <a:solidFill>
              <a:srgbClr val="475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316736"/>
            <a:ext cx="252374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Rule 3: Indexed Cap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645920"/>
            <a:ext cx="25237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Completion target is transparent and indexed by predefined policy method.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3456" y="1234440"/>
            <a:ext cx="2377440" cy="182880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456" y="1234440"/>
            <a:ext cx="2377440" cy="310896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3184" y="1316736"/>
            <a:ext cx="21579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Rule 4: Conversion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1645920"/>
            <a:ext cx="215798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When cap conditions are met, title converts to freehold.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10128"/>
            <a:ext cx="11192256" cy="1554480"/>
          </a:xfrm>
          <a:prstGeom prst="rect">
            <a:avLst/>
          </a:prstGeom>
          <a:solidFill>
            <a:srgbClr val="FCFDFE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5643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730752"/>
            <a:ext cx="2103120" cy="804672"/>
          </a:xfrm>
          <a:prstGeom prst="rect">
            <a:avLst/>
          </a:prstGeom>
          <a:solidFill>
            <a:srgbClr val="F1F4F7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3877056"/>
            <a:ext cx="18836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41414"/>
                </a:solidFill>
              </a:defRPr>
            </a:pPr>
            <a:r>
              <a:t>Income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096512"/>
            <a:ext cx="188366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64646"/>
                </a:solidFill>
              </a:defRPr>
            </a:pPr>
            <a:r>
              <a:t>Household earnings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364991" y="4041648"/>
            <a:ext cx="502920" cy="182880"/>
          </a:xfrm>
          <a:prstGeom prst="rightArrow">
            <a:avLst/>
          </a:prstGeom>
          <a:solidFill>
            <a:srgbClr val="A0A7B0"/>
          </a:solidFill>
          <a:ln>
            <a:solidFill>
              <a:srgbClr val="A0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86200" y="3730752"/>
            <a:ext cx="2103120" cy="804672"/>
          </a:xfrm>
          <a:prstGeom prst="rect">
            <a:avLst/>
          </a:prstGeom>
          <a:solidFill>
            <a:srgbClr val="F1F4F7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95928" y="3877056"/>
            <a:ext cx="18836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41414"/>
                </a:solidFill>
              </a:defRPr>
            </a:pPr>
            <a:r>
              <a:t>Contribution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928" y="4096512"/>
            <a:ext cx="188366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64646"/>
                </a:solidFill>
              </a:defRPr>
            </a:pPr>
            <a:r>
              <a:t>10-12% payment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062472" y="4041648"/>
            <a:ext cx="502920" cy="182880"/>
          </a:xfrm>
          <a:prstGeom prst="rightArrow">
            <a:avLst/>
          </a:prstGeom>
          <a:solidFill>
            <a:srgbClr val="A0A7B0"/>
          </a:solidFill>
          <a:ln>
            <a:solidFill>
              <a:srgbClr val="A0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3730752"/>
            <a:ext cx="2103120" cy="804672"/>
          </a:xfrm>
          <a:prstGeom prst="rect">
            <a:avLst/>
          </a:prstGeom>
          <a:solidFill>
            <a:srgbClr val="F1F4F7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8" y="3877056"/>
            <a:ext cx="18836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41414"/>
                </a:solidFill>
              </a:defRPr>
            </a:pPr>
            <a:r>
              <a:t>Progress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4096512"/>
            <a:ext cx="188366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64646"/>
                </a:solidFill>
              </a:defRPr>
            </a:pPr>
            <a:r>
              <a:t>Cumulative completion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759952" y="4041648"/>
            <a:ext cx="502920" cy="182880"/>
          </a:xfrm>
          <a:prstGeom prst="rightArrow">
            <a:avLst/>
          </a:prstGeom>
          <a:solidFill>
            <a:srgbClr val="A0A7B0"/>
          </a:solidFill>
          <a:ln>
            <a:solidFill>
              <a:srgbClr val="A0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81160" y="3730752"/>
            <a:ext cx="2103120" cy="804672"/>
          </a:xfrm>
          <a:prstGeom prst="rect">
            <a:avLst/>
          </a:prstGeom>
          <a:solidFill>
            <a:srgbClr val="F1F4F7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90888" y="3877056"/>
            <a:ext cx="18836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41414"/>
                </a:solidFill>
              </a:defRPr>
            </a:pPr>
            <a:r>
              <a:t>Conversion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4096512"/>
            <a:ext cx="188366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64646"/>
                </a:solidFill>
              </a:defRPr>
            </a:pPr>
            <a:r>
              <a:t>Freehold transfer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806440"/>
            <a:ext cx="11338560" cy="685800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01675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Households pay by capacity and progress by rule, not by compounding debt exposure.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Slide basis: docs/slides/slide-map.md Section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