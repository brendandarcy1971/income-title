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private market does not disappear in this model; it shifts from speculative land-margin dependence to contracted delivery certainty.</a:t>
            </a:r>
          </a:p>
          <a:p/>
          <a:p>
            <a:r>
              <a:t>Government's role is to stabilise land and approvals throughput. Private firms still execute civil and vertical delivery under competitive procurement.</a:t>
            </a:r>
          </a:p>
          <a:p/>
          <a:p>
            <a:r>
              <a:t>Use guardrails to maintain contractor diversity and avoid concentration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247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1616"/>
                </a:solidFill>
              </a:defRPr>
            </a:pPr>
            <a:r>
              <a:t>Will Private Developers Exit? No - They Shift to Scaled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247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E4E4E"/>
                </a:solidFill>
              </a:defRPr>
            </a:pPr>
            <a:r>
              <a:t>Government stabilises land and approvals throughput; private firms still deliver civil works and homes at scale.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99616"/>
            <a:ext cx="5440680" cy="3611880"/>
          </a:xfrm>
          <a:prstGeom prst="rect">
            <a:avLst/>
          </a:prstGeom>
          <a:solidFill>
            <a:srgbClr val="FFFFFF"/>
          </a:solidFill>
          <a:ln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99616"/>
            <a:ext cx="5440680" cy="566928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82496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Before: Speculative Bottleneck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1284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E4E4E"/>
                </a:solidFill>
              </a:defRPr>
            </a:pPr>
            <a:r>
              <a:t>What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95728"/>
            <a:ext cx="24871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61616"/>
                </a:solidFill>
              </a:defRPr>
            </a:pPr>
            <a:r>
              <a:t>• Landbank and rezoning windfall dependence</a:t>
            </a:r>
          </a:p>
          <a:p>
            <a:pPr>
              <a:defRPr sz="800">
                <a:solidFill>
                  <a:srgbClr val="161616"/>
                </a:solidFill>
              </a:defRPr>
            </a:pPr>
            <a:r>
              <a:t>• Approvals volatility and holding-cost risk</a:t>
            </a:r>
          </a:p>
          <a:p>
            <a:pPr>
              <a:defRPr sz="800">
                <a:solidFill>
                  <a:srgbClr val="161616"/>
                </a:solidFill>
              </a:defRPr>
            </a:pPr>
            <a:r>
              <a:t>• Irregular pipeline and workforce swings</a:t>
            </a:r>
          </a:p>
          <a:p>
            <a:pPr>
              <a:defRPr sz="800">
                <a:solidFill>
                  <a:srgbClr val="161616"/>
                </a:solidFill>
              </a:defRPr>
            </a:pPr>
            <a:r>
              <a:t>• Margin quality tied to timing luck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221284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E4E4E"/>
                </a:solidFill>
              </a:defRPr>
            </a:pPr>
            <a:r>
              <a:t>What Stays Private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2395728"/>
            <a:ext cx="24871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61616"/>
                </a:solidFill>
              </a:defRPr>
            </a:pPr>
            <a:r>
              <a:t>• Survey and planning capability</a:t>
            </a:r>
          </a:p>
          <a:p>
            <a:pPr>
              <a:defRPr sz="800">
                <a:solidFill>
                  <a:srgbClr val="161616"/>
                </a:solidFill>
              </a:defRPr>
            </a:pPr>
            <a:r>
              <a:t>• Civil and utility execution</a:t>
            </a:r>
          </a:p>
          <a:p>
            <a:pPr>
              <a:defRPr sz="800">
                <a:solidFill>
                  <a:srgbClr val="161616"/>
                </a:solidFill>
              </a:defRPr>
            </a:pPr>
            <a:r>
              <a:t>• Home construction operations</a:t>
            </a:r>
          </a:p>
          <a:p>
            <a:pPr>
              <a:defRPr sz="800">
                <a:solidFill>
                  <a:srgbClr val="161616"/>
                </a:solidFill>
              </a:defRPr>
            </a:pPr>
            <a:r>
              <a:t>• Subcontractor ecosystem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99616"/>
            <a:ext cx="5440680" cy="3611880"/>
          </a:xfrm>
          <a:prstGeom prst="rect">
            <a:avLst/>
          </a:prstGeom>
          <a:solidFill>
            <a:srgbClr val="FFFFFF"/>
          </a:solidFill>
          <a:ln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99616"/>
            <a:ext cx="5440680" cy="566928"/>
          </a:xfrm>
          <a:prstGeom prst="rect">
            <a:avLst/>
          </a:prstGeom>
          <a:solidFill>
            <a:srgbClr val="1B5C64"/>
          </a:solidFill>
          <a:ln>
            <a:solidFill>
              <a:srgbClr val="1B5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682496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After: Programmed Tranche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1284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E4E4E"/>
                </a:solidFill>
              </a:defRPr>
            </a:pPr>
            <a:r>
              <a:t>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395728"/>
            <a:ext cx="24871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61616"/>
                </a:solidFill>
              </a:defRPr>
            </a:pPr>
            <a:r>
              <a:t>• Predictable 10k-lot tranche cadence</a:t>
            </a:r>
          </a:p>
          <a:p>
            <a:pPr>
              <a:defRPr sz="800">
                <a:solidFill>
                  <a:srgbClr val="161616"/>
                </a:solidFill>
              </a:defRPr>
            </a:pPr>
            <a:r>
              <a:t>• Open tenders and package competition</a:t>
            </a:r>
          </a:p>
          <a:p>
            <a:pPr>
              <a:defRPr sz="800">
                <a:solidFill>
                  <a:srgbClr val="161616"/>
                </a:solidFill>
              </a:defRPr>
            </a:pPr>
            <a:r>
              <a:t>• Lower approval and release uncertainty</a:t>
            </a:r>
          </a:p>
          <a:p>
            <a:pPr>
              <a:defRPr sz="800">
                <a:solidFill>
                  <a:srgbClr val="161616"/>
                </a:solidFill>
              </a:defRPr>
            </a:pPr>
            <a:r>
              <a:t>• Production-led rather than windfall-led returns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21284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E4E4E"/>
                </a:solidFill>
              </a:defRPr>
            </a:pPr>
            <a:r>
              <a:t>What Stays Private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395728"/>
            <a:ext cx="24871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61616"/>
                </a:solidFill>
              </a:defRPr>
            </a:pPr>
            <a:r>
              <a:t>• Private civil/build delivery</a:t>
            </a:r>
          </a:p>
          <a:p>
            <a:pPr>
              <a:defRPr sz="800">
                <a:solidFill>
                  <a:srgbClr val="161616"/>
                </a:solidFill>
              </a:defRPr>
            </a:pPr>
            <a:r>
              <a:t>• Quality and defects obligations</a:t>
            </a:r>
          </a:p>
          <a:p>
            <a:pPr>
              <a:defRPr sz="800">
                <a:solidFill>
                  <a:srgbClr val="161616"/>
                </a:solidFill>
              </a:defRPr>
            </a:pPr>
            <a:r>
              <a:t>• Commercial innovation in execution</a:t>
            </a:r>
          </a:p>
          <a:p>
            <a:pPr>
              <a:defRPr sz="800">
                <a:solidFill>
                  <a:srgbClr val="161616"/>
                </a:solidFill>
              </a:defRPr>
            </a:pPr>
            <a:r>
              <a:t>• Performance-based rollover opportunities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248656"/>
            <a:ext cx="7516368" cy="896112"/>
          </a:xfrm>
          <a:prstGeom prst="rect">
            <a:avLst/>
          </a:prstGeom>
          <a:solidFill>
            <a:srgbClr val="F1F4F7"/>
          </a:solidFill>
          <a:ln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58384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E4E4E"/>
                </a:solidFill>
              </a:defRPr>
            </a:pPr>
            <a:r>
              <a:t>Policy Guardrails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41264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61616"/>
                </a:solidFill>
              </a:defRPr>
            </a:pPr>
            <a:r>
              <a:t>• Open panel model; no single-state-builder monopoly</a:t>
            </a:r>
          </a:p>
          <a:p>
            <a:pPr>
              <a:defRPr sz="800">
                <a:solidFill>
                  <a:srgbClr val="161616"/>
                </a:solidFill>
              </a:defRPr>
            </a:pPr>
            <a:r>
              <a:t>• Tiered package sizing across Tier 1, mid-tier, and SME firms</a:t>
            </a:r>
          </a:p>
          <a:p>
            <a:pPr>
              <a:defRPr sz="800">
                <a:solidFill>
                  <a:srgbClr val="161616"/>
                </a:solidFill>
              </a:defRPr>
            </a:pPr>
            <a:r>
              <a:t>• Minimum private delivery share per tranche + annual market-impact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11312" y="5248656"/>
            <a:ext cx="3401568" cy="896112"/>
          </a:xfrm>
          <a:prstGeom prst="rect">
            <a:avLst/>
          </a:prstGeom>
          <a:solidFill>
            <a:srgbClr val="353A42"/>
          </a:solidFill>
          <a:ln>
            <a:solidFill>
              <a:srgbClr val="35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5385816"/>
            <a:ext cx="3127248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This is not nationalisation of construction; it is de-risked market delivery at scale.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345936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E4E4E"/>
                </a:solidFill>
              </a:defRPr>
            </a:pPr>
            <a:r>
              <a:t>Slide basis: docs/slides/slide-20-private-market-reassurance.plan.md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