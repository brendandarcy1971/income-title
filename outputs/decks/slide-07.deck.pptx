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complete lifecycle in one visual: entry, progression, conversion.</a:t>
            </a:r>
          </a:p>
          <a:p/>
          <a:p>
            <a:r>
              <a:t>The policy intent is clarity for households and predictability for program administration.</a:t>
            </a:r>
          </a:p>
          <a:p/>
          <a:p>
            <a:r>
              <a:t>Link this slide directly after policy precedent material to show how the model works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247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81818"/>
                </a:solidFill>
              </a:defRPr>
            </a:pPr>
            <a:r>
              <a:t>Income Title Lifecycle: Enter, Repay by Income, Convert to Freehold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E4E4E"/>
                </a:solidFill>
              </a:defRPr>
            </a:pPr>
            <a:r>
              <a:t>Occupancy starts immediately. Ownership is completed through structured income-linked progression.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72768"/>
            <a:ext cx="361188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3611880" cy="530352"/>
          </a:xfrm>
          <a:prstGeom prst="rect">
            <a:avLst/>
          </a:prstGeom>
          <a:solidFill>
            <a:srgbClr val="1B5C64"/>
          </a:solidFill>
          <a:ln>
            <a:solidFill>
              <a:srgbClr val="1B5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728216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1. Entry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24028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81818"/>
                </a:solidFill>
              </a:defRPr>
            </a:pPr>
            <a:r>
              <a:t>• Eligible household allocated compliant home</a:t>
            </a:r>
          </a:p>
          <a:p>
            <a:pPr>
              <a:defRPr sz="900">
                <a:solidFill>
                  <a:srgbClr val="181818"/>
                </a:solidFill>
              </a:defRPr>
            </a:pPr>
            <a:r>
              <a:t>• No deposit barrier at entry</a:t>
            </a:r>
          </a:p>
          <a:p>
            <a:pPr>
              <a:defRPr sz="900">
                <a:solidFill>
                  <a:srgbClr val="181818"/>
                </a:solidFill>
              </a:defRPr>
            </a:pPr>
            <a:r>
              <a:t>• Immediate occupancy rights begin</a:t>
            </a:r>
          </a:p>
          <a:p>
            <a:pPr>
              <a:defRPr sz="900">
                <a:solidFill>
                  <a:srgbClr val="181818"/>
                </a:solidFill>
              </a:defRPr>
            </a:pPr>
            <a:r>
              <a:t>• Clear acceptance and onboarding rules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572768"/>
            <a:ext cx="361188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572768"/>
            <a:ext cx="3611880" cy="530352"/>
          </a:xfrm>
          <a:prstGeom prst="rect">
            <a:avLst/>
          </a:prstGeom>
          <a:solidFill>
            <a:srgbClr val="465F91"/>
          </a:solidFill>
          <a:ln>
            <a:solidFill>
              <a:srgbClr val="46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5696" y="1728216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2. Income-Linked Progression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224028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81818"/>
                </a:solidFill>
              </a:defRPr>
            </a:pPr>
            <a:r>
              <a:t>• Annual contribution set as share of income</a:t>
            </a:r>
          </a:p>
          <a:p>
            <a:pPr>
              <a:defRPr sz="900">
                <a:solidFill>
                  <a:srgbClr val="181818"/>
                </a:solidFill>
              </a:defRPr>
            </a:pPr>
            <a:r>
              <a:t>• Compliance and reporting rules apply</a:t>
            </a:r>
          </a:p>
          <a:p>
            <a:pPr>
              <a:defRPr sz="900">
                <a:solidFill>
                  <a:srgbClr val="181818"/>
                </a:solidFill>
              </a:defRPr>
            </a:pPr>
            <a:r>
              <a:t>• Mobility options for transfer/sale before completion</a:t>
            </a:r>
          </a:p>
          <a:p>
            <a:pPr>
              <a:defRPr sz="900">
                <a:solidFill>
                  <a:srgbClr val="181818"/>
                </a:solidFill>
              </a:defRPr>
            </a:pPr>
            <a:r>
              <a:t>• Payment burden tracks earning capacity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572768"/>
            <a:ext cx="361188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572768"/>
            <a:ext cx="3611880" cy="530352"/>
          </a:xfrm>
          <a:prstGeom prst="rect">
            <a:avLst/>
          </a:prstGeom>
          <a:solidFill>
            <a:srgbClr val="C65E1F"/>
          </a:solidFill>
          <a:ln>
            <a:solidFill>
              <a:srgbClr val="C65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9016" y="1728216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3. Title Conversion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24028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81818"/>
                </a:solidFill>
              </a:defRPr>
            </a:pPr>
            <a:r>
              <a:t>• Threshold reached under scheme rules</a:t>
            </a:r>
          </a:p>
          <a:p>
            <a:pPr>
              <a:defRPr sz="900">
                <a:solidFill>
                  <a:srgbClr val="181818"/>
                </a:solidFill>
              </a:defRPr>
            </a:pPr>
            <a:r>
              <a:t>• Title converts to full freehold</a:t>
            </a:r>
          </a:p>
          <a:p>
            <a:pPr>
              <a:defRPr sz="900">
                <a:solidFill>
                  <a:srgbClr val="181818"/>
                </a:solidFill>
              </a:defRPr>
            </a:pPr>
            <a:r>
              <a:t>• Scheme balance closes for dwelling</a:t>
            </a:r>
          </a:p>
          <a:p>
            <a:pPr>
              <a:defRPr sz="900">
                <a:solidFill>
                  <a:srgbClr val="181818"/>
                </a:solidFill>
              </a:defRPr>
            </a:pPr>
            <a:r>
              <a:t>• Household exits with standard ownership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2" y="307238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4E4E4E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307238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4E4E4E"/>
                </a:solidFill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102352"/>
            <a:ext cx="7360920" cy="987552"/>
          </a:xfrm>
          <a:prstGeom prst="rect">
            <a:avLst/>
          </a:prstGeom>
          <a:solidFill>
            <a:srgbClr val="E8F4F6"/>
          </a:solidFill>
          <a:ln>
            <a:solidFill>
              <a:srgbClr val="AF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230368"/>
            <a:ext cx="7040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B5C64"/>
                </a:solidFill>
              </a:defRPr>
            </a:pPr>
            <a:r>
              <a:t>Rule Bar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440680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81818"/>
                </a:solidFill>
              </a:defRPr>
            </a:pPr>
            <a:r>
              <a:t>Clear entry rules. Predictable repayment rules. Automatic conversion rules.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5102352"/>
            <a:ext cx="3474720" cy="987552"/>
          </a:xfrm>
          <a:prstGeom prst="rect">
            <a:avLst/>
          </a:prstGeom>
          <a:solidFill>
            <a:srgbClr val="F1F4F7"/>
          </a:solidFill>
          <a:ln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523036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E4E4E"/>
                </a:solidFill>
              </a:defRPr>
            </a:pPr>
            <a:r>
              <a:t>Policy Framing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5440680"/>
            <a:ext cx="31089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81818"/>
                </a:solidFill>
              </a:defRPr>
            </a:pPr>
            <a:r>
              <a:t>Targeted to households locked out of ownership, not a universal demand subsidy.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345936"/>
            <a:ext cx="11064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E4E4E"/>
                </a:solidFill>
              </a:defRPr>
            </a:pPr>
            <a:r>
              <a:t>Slide basis: docs/slides/slides-06-07.detailed.md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