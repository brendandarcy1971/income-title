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defines the full operating cadence for delivering 100,000 lots via overlapping 10,000-lot tranches.</a:t>
            </a:r>
          </a:p>
          <a:p/>
          <a:p>
            <a:r>
              <a:t>Each stage has an explicit output gate, and each actor has auditable responsibilities with monthly KPI review.</a:t>
            </a:r>
          </a:p>
          <a:p/>
          <a:p>
            <a:r>
              <a:t>Targeted eligibility is presented as an operational control to prioritize households excluded from ownership while protecting fairness and program legitimacy.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28016"/>
            <a:ext cx="1115568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41414"/>
                </a:solidFill>
              </a:defRPr>
            </a:pPr>
            <a:r>
              <a:t>Operating Cycle: 100,000 Lots, End-to-End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30352"/>
            <a:ext cx="111556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64646"/>
                </a:solidFill>
              </a:defRPr>
            </a:pPr>
            <a:r>
              <a:t>State-led land control + repeatable tranches convert policy intent into measurable housing throughput.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14400"/>
            <a:ext cx="11356848" cy="2084831"/>
          </a:xfrm>
          <a:prstGeom prst="rect">
            <a:avLst/>
          </a:prstGeom>
          <a:solidFill>
            <a:srgbClr val="F1F4F7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033271"/>
            <a:ext cx="4572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464646"/>
                </a:solidFill>
              </a:defRPr>
            </a:pPr>
            <a:r>
              <a:t>7-Stage Tranche Engine (with output gates)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25296"/>
            <a:ext cx="1527048" cy="512064"/>
          </a:xfrm>
          <a:prstGeom prst="rect">
            <a:avLst/>
          </a:prstGeom>
          <a:solidFill>
            <a:srgbClr val="1E5F66"/>
          </a:solidFill>
          <a:ln>
            <a:solidFill>
              <a:srgbClr val="1E5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380744"/>
            <a:ext cx="130759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t>1. Declare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737360"/>
            <a:ext cx="1527048" cy="914400"/>
          </a:xfrm>
          <a:prstGeom prst="rect">
            <a:avLst/>
          </a:prstGeom>
          <a:solidFill>
            <a:srgbClr val="FFFFFF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792224"/>
            <a:ext cx="134416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141414"/>
                </a:solidFill>
              </a:defRPr>
            </a:pPr>
            <a:r>
              <a:t>Precinct declaration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093976"/>
            <a:ext cx="134416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464646"/>
                </a:solidFill>
              </a:defRPr>
            </a:pPr>
            <a:r>
              <a:t>Output: Gazetted corridor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57984" y="1225296"/>
            <a:ext cx="1527048" cy="512064"/>
          </a:xfrm>
          <a:prstGeom prst="rect">
            <a:avLst/>
          </a:prstGeom>
          <a:solidFill>
            <a:srgbClr val="C65E1F"/>
          </a:solidFill>
          <a:ln>
            <a:solidFill>
              <a:srgbClr val="C65E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67712" y="1380744"/>
            <a:ext cx="130759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t>2. Acquire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57984" y="1737360"/>
            <a:ext cx="1527048" cy="914400"/>
          </a:xfrm>
          <a:prstGeom prst="rect">
            <a:avLst/>
          </a:prstGeom>
          <a:solidFill>
            <a:srgbClr val="FFFFFF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49424" y="1792224"/>
            <a:ext cx="134416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141414"/>
                </a:solidFill>
              </a:defRPr>
            </a:pPr>
            <a:r>
              <a:t>Acquisition + settlement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9424" y="2093976"/>
            <a:ext cx="134416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464646"/>
                </a:solidFill>
              </a:defRPr>
            </a:pPr>
            <a:r>
              <a:t>Output: Compensation finalized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49039" y="1225296"/>
            <a:ext cx="1527048" cy="512064"/>
          </a:xfrm>
          <a:prstGeom prst="rect">
            <a:avLst/>
          </a:prstGeom>
          <a:solidFill>
            <a:srgbClr val="475E92"/>
          </a:solidFill>
          <a:ln>
            <a:solidFill>
              <a:srgbClr val="475E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58768" y="1380744"/>
            <a:ext cx="130759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t>3. Approve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49039" y="1737360"/>
            <a:ext cx="1527048" cy="914400"/>
          </a:xfrm>
          <a:prstGeom prst="rect">
            <a:avLst/>
          </a:prstGeom>
          <a:solidFill>
            <a:srgbClr val="FFFFFF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79" y="1792224"/>
            <a:ext cx="134416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141414"/>
                </a:solidFill>
              </a:defRPr>
            </a:pPr>
            <a:r>
              <a:t>Code approvals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79" y="2093976"/>
            <a:ext cx="134416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464646"/>
                </a:solidFill>
              </a:defRPr>
            </a:pPr>
            <a:r>
              <a:t>Output: Subdivision consent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40096" y="1225296"/>
            <a:ext cx="1527048" cy="512064"/>
          </a:xfrm>
          <a:prstGeom prst="rect">
            <a:avLst/>
          </a:prstGeom>
          <a:solidFill>
            <a:srgbClr val="1E5F66"/>
          </a:solidFill>
          <a:ln>
            <a:solidFill>
              <a:srgbClr val="1E5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49824" y="1380744"/>
            <a:ext cx="130759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t>4. Service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40096" y="1737360"/>
            <a:ext cx="1527048" cy="914400"/>
          </a:xfrm>
          <a:prstGeom prst="rect">
            <a:avLst/>
          </a:prstGeom>
          <a:solidFill>
            <a:srgbClr val="FFFFFF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31536" y="1792224"/>
            <a:ext cx="134416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141414"/>
                </a:solidFill>
              </a:defRPr>
            </a:pPr>
            <a:r>
              <a:t>Civil + utility works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31536" y="2093976"/>
            <a:ext cx="134416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464646"/>
                </a:solidFill>
              </a:defRPr>
            </a:pPr>
            <a:r>
              <a:t>Output: Serviced-lot certificate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31152" y="1225296"/>
            <a:ext cx="1527048" cy="512064"/>
          </a:xfrm>
          <a:prstGeom prst="rect">
            <a:avLst/>
          </a:prstGeom>
          <a:solidFill>
            <a:srgbClr val="C65E1F"/>
          </a:solidFill>
          <a:ln>
            <a:solidFill>
              <a:srgbClr val="C65E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80" y="1380744"/>
            <a:ext cx="130759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t>5. Release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31152" y="1737360"/>
            <a:ext cx="1527048" cy="914400"/>
          </a:xfrm>
          <a:prstGeom prst="rect">
            <a:avLst/>
          </a:prstGeom>
          <a:solidFill>
            <a:srgbClr val="FFFFFF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22592" y="1792224"/>
            <a:ext cx="134416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141414"/>
                </a:solidFill>
              </a:defRPr>
            </a:pPr>
            <a:r>
              <a:t>Lot allocation window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22592" y="2093976"/>
            <a:ext cx="134416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464646"/>
                </a:solidFill>
              </a:defRPr>
            </a:pPr>
            <a:r>
              <a:t>Output: Awarded lot register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22208" y="1225296"/>
            <a:ext cx="1527048" cy="512064"/>
          </a:xfrm>
          <a:prstGeom prst="rect">
            <a:avLst/>
          </a:prstGeom>
          <a:solidFill>
            <a:srgbClr val="475E92"/>
          </a:solidFill>
          <a:ln>
            <a:solidFill>
              <a:srgbClr val="475E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31936" y="1380744"/>
            <a:ext cx="130759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t>6. Build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22208" y="1737360"/>
            <a:ext cx="1527048" cy="914400"/>
          </a:xfrm>
          <a:prstGeom prst="rect">
            <a:avLst/>
          </a:prstGeom>
          <a:solidFill>
            <a:srgbClr val="FFFFFF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13648" y="1792224"/>
            <a:ext cx="134416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141414"/>
                </a:solidFill>
              </a:defRPr>
            </a:pPr>
            <a:r>
              <a:t>Vertical build + QA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13648" y="2093976"/>
            <a:ext cx="134416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464646"/>
                </a:solidFill>
              </a:defRPr>
            </a:pPr>
            <a:r>
              <a:t>Output: Practical completion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113264" y="1225296"/>
            <a:ext cx="1527048" cy="512064"/>
          </a:xfrm>
          <a:prstGeom prst="rect">
            <a:avLst/>
          </a:prstGeom>
          <a:solidFill>
            <a:srgbClr val="363A42"/>
          </a:solidFill>
          <a:ln>
            <a:solidFill>
              <a:srgbClr val="363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22992" y="1380744"/>
            <a:ext cx="130759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t>7. Close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113264" y="1737360"/>
            <a:ext cx="1527048" cy="914400"/>
          </a:xfrm>
          <a:prstGeom prst="rect">
            <a:avLst/>
          </a:prstGeom>
          <a:solidFill>
            <a:srgbClr val="FFFFFF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204704" y="1792224"/>
            <a:ext cx="134416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141414"/>
                </a:solidFill>
              </a:defRPr>
            </a:pPr>
            <a:r>
              <a:t>Handover + audit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04704" y="2093976"/>
            <a:ext cx="134416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464646"/>
                </a:solidFill>
              </a:defRPr>
            </a:pPr>
            <a:r>
              <a:t>Output: Tranche close report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" y="3127248"/>
            <a:ext cx="7269480" cy="2487168"/>
          </a:xfrm>
          <a:prstGeom prst="rect">
            <a:avLst/>
          </a:prstGeom>
          <a:solidFill>
            <a:srgbClr val="F1F4F7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6928" y="3246120"/>
            <a:ext cx="3474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464646"/>
                </a:solidFill>
              </a:defRPr>
            </a:pPr>
            <a:r>
              <a:t>Responsibility Split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928" y="3511296"/>
            <a:ext cx="1645920" cy="1938528"/>
          </a:xfrm>
          <a:prstGeom prst="rect">
            <a:avLst/>
          </a:prstGeom>
          <a:solidFill>
            <a:srgbClr val="FFFFFF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" y="3611880"/>
            <a:ext cx="1417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475E92"/>
                </a:solidFill>
              </a:defRPr>
            </a:pPr>
            <a:r>
              <a:t>Commonwealth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3803904"/>
            <a:ext cx="1417320" cy="1572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700">
                <a:solidFill>
                  <a:srgbClr val="141414"/>
                </a:solidFill>
              </a:defRPr>
            </a:pPr>
            <a:r>
              <a:t>• Funding envelope</a:t>
            </a:r>
          </a:p>
          <a:p>
            <a:pPr>
              <a:defRPr sz="700">
                <a:solidFill>
                  <a:srgbClr val="141414"/>
                </a:solidFill>
              </a:defRPr>
            </a:pPr>
            <a:r>
              <a:t>• National standards</a:t>
            </a:r>
          </a:p>
          <a:p>
            <a:pPr>
              <a:defRPr sz="700">
                <a:solidFill>
                  <a:srgbClr val="141414"/>
                </a:solidFill>
              </a:defRPr>
            </a:pPr>
            <a:r>
              <a:t>• Delivery-linked incentives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304288" y="3511296"/>
            <a:ext cx="1737360" cy="1938528"/>
          </a:xfrm>
          <a:prstGeom prst="rect">
            <a:avLst/>
          </a:prstGeom>
          <a:solidFill>
            <a:srgbClr val="FFFFFF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414016" y="3611880"/>
            <a:ext cx="1508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C65E1F"/>
                </a:solidFill>
              </a:defRPr>
            </a:pPr>
            <a:r>
              <a:t>State Government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414016" y="3803904"/>
            <a:ext cx="1508760" cy="1572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700">
                <a:solidFill>
                  <a:srgbClr val="141414"/>
                </a:solidFill>
              </a:defRPr>
            </a:pPr>
            <a:r>
              <a:t>• Acquisition authority</a:t>
            </a:r>
          </a:p>
          <a:p>
            <a:pPr>
              <a:defRPr sz="700">
                <a:solidFill>
                  <a:srgbClr val="141414"/>
                </a:solidFill>
              </a:defRPr>
            </a:pPr>
            <a:r>
              <a:t>• Planning + subdivision</a:t>
            </a:r>
          </a:p>
          <a:p>
            <a:pPr>
              <a:defRPr sz="700">
                <a:solidFill>
                  <a:srgbClr val="141414"/>
                </a:solidFill>
              </a:defRPr>
            </a:pPr>
            <a:r>
              <a:t>• Utility/civil coordination</a:t>
            </a:r>
          </a:p>
          <a:p>
            <a:pPr>
              <a:defRPr sz="700">
                <a:solidFill>
                  <a:srgbClr val="141414"/>
                </a:solidFill>
              </a:defRPr>
            </a:pPr>
            <a:r>
              <a:t>• Package contracting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33087" y="3511296"/>
            <a:ext cx="1645920" cy="1938528"/>
          </a:xfrm>
          <a:prstGeom prst="rect">
            <a:avLst/>
          </a:prstGeom>
          <a:solidFill>
            <a:srgbClr val="FFFFFF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242816" y="3611880"/>
            <a:ext cx="1417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1E5F66"/>
                </a:solidFill>
              </a:defRPr>
            </a:pPr>
            <a:r>
              <a:t>Contractors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42816" y="3803904"/>
            <a:ext cx="1417320" cy="1572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700">
                <a:solidFill>
                  <a:srgbClr val="141414"/>
                </a:solidFill>
              </a:defRPr>
            </a:pPr>
            <a:r>
              <a:t>• Survey/engineering</a:t>
            </a:r>
          </a:p>
          <a:p>
            <a:pPr>
              <a:defRPr sz="700">
                <a:solidFill>
                  <a:srgbClr val="141414"/>
                </a:solidFill>
              </a:defRPr>
            </a:pPr>
            <a:r>
              <a:t>• Civil execution</a:t>
            </a:r>
          </a:p>
          <a:p>
            <a:pPr>
              <a:defRPr sz="700">
                <a:solidFill>
                  <a:srgbClr val="141414"/>
                </a:solidFill>
              </a:defRPr>
            </a:pPr>
            <a:r>
              <a:t>• Vertical build</a:t>
            </a:r>
          </a:p>
          <a:p>
            <a:pPr>
              <a:defRPr sz="700">
                <a:solidFill>
                  <a:srgbClr val="141414"/>
                </a:solidFill>
              </a:defRPr>
            </a:pPr>
            <a:r>
              <a:t>• Defects closeout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870448" y="3511296"/>
            <a:ext cx="1645920" cy="1938528"/>
          </a:xfrm>
          <a:prstGeom prst="rect">
            <a:avLst/>
          </a:prstGeom>
          <a:solidFill>
            <a:srgbClr val="FFFFFF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61888" y="3611880"/>
            <a:ext cx="1417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363A42"/>
                </a:solidFill>
              </a:defRPr>
            </a:pPr>
            <a:r>
              <a:t>Assurance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61888" y="3803904"/>
            <a:ext cx="1417320" cy="1572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700">
                <a:solidFill>
                  <a:srgbClr val="141414"/>
                </a:solidFill>
              </a:defRPr>
            </a:pPr>
            <a:r>
              <a:t>• Cost audit</a:t>
            </a:r>
          </a:p>
          <a:p>
            <a:pPr>
              <a:defRPr sz="700">
                <a:solidFill>
                  <a:srgbClr val="141414"/>
                </a:solidFill>
              </a:defRPr>
            </a:pPr>
            <a:r>
              <a:t>• Quality audit</a:t>
            </a:r>
          </a:p>
          <a:p>
            <a:pPr>
              <a:defRPr sz="700">
                <a:solidFill>
                  <a:srgbClr val="141414"/>
                </a:solidFill>
              </a:defRPr>
            </a:pPr>
            <a:r>
              <a:t>• Schedule verification</a:t>
            </a:r>
          </a:p>
          <a:p>
            <a:pPr>
              <a:defRPr sz="700">
                <a:solidFill>
                  <a:srgbClr val="141414"/>
                </a:solidFill>
              </a:defRPr>
            </a:pPr>
            <a:r>
              <a:t>• Exception triggers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818120" y="3127248"/>
            <a:ext cx="3950208" cy="2487168"/>
          </a:xfrm>
          <a:prstGeom prst="rect">
            <a:avLst/>
          </a:prstGeom>
          <a:solidFill>
            <a:srgbClr val="F1F4F7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991856" y="3246120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464646"/>
                </a:solidFill>
              </a:defRPr>
            </a:pPr>
            <a:r>
              <a:t>Program Controls + Throughput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991856" y="3511296"/>
            <a:ext cx="1874519" cy="969264"/>
          </a:xfrm>
          <a:prstGeom prst="rect">
            <a:avLst/>
          </a:prstGeom>
          <a:solidFill>
            <a:srgbClr val="FFFFFF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101583" y="3602736"/>
            <a:ext cx="1645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475E92"/>
                </a:solidFill>
              </a:defRPr>
            </a:pPr>
            <a:r>
              <a:t>Tranche Math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01583" y="3776472"/>
            <a:ext cx="1645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141414"/>
                </a:solidFill>
              </a:defRPr>
            </a:pPr>
            <a:r>
              <a:t>100,000 lots total</a:t>
            </a:r>
            <a:br/>
            <a:r>
              <a:t>10 tranches x 10,000</a:t>
            </a:r>
            <a:br/>
            <a:r>
              <a:t>Launch every ~6 months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985248" y="3511296"/>
            <a:ext cx="1600200" cy="969264"/>
          </a:xfrm>
          <a:prstGeom prst="rect">
            <a:avLst/>
          </a:prstGeom>
          <a:solidFill>
            <a:srgbClr val="FFFFFF"/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076688" y="3602736"/>
            <a:ext cx="1417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1E5F66"/>
                </a:solidFill>
              </a:defRPr>
            </a:pPr>
            <a:r>
              <a:t>Steady State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076688" y="3776472"/>
            <a:ext cx="1417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141414"/>
                </a:solidFill>
              </a:defRPr>
            </a:pPr>
            <a:r>
              <a:t>3-4 active tranches</a:t>
            </a:r>
            <a:br/>
            <a:r>
              <a:t>Parallel civil/build</a:t>
            </a:r>
            <a:br/>
            <a:r>
              <a:t>Monthly KPI review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991856" y="4590288"/>
            <a:ext cx="3593592" cy="1024128"/>
          </a:xfrm>
          <a:prstGeom prst="rect">
            <a:avLst/>
          </a:prstGeom>
          <a:solidFill>
            <a:srgbClr val="E8F4F6"/>
          </a:solidFill>
          <a:ln>
            <a:solidFill>
              <a:srgbClr val="AF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119872" y="4681728"/>
            <a:ext cx="21945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1E5F66"/>
                </a:solidFill>
              </a:defRPr>
            </a:pPr>
            <a:r>
              <a:t>Targeted Eligibility Overlay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119872" y="4828032"/>
            <a:ext cx="3346704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700">
                <a:solidFill>
                  <a:srgbClr val="141414"/>
                </a:solidFill>
              </a:defRPr>
            </a:pPr>
            <a:r>
              <a:t>• Base test: no current ownership, long-term renting, income-band cap</a:t>
            </a:r>
          </a:p>
          <a:p>
            <a:pPr>
              <a:defRPr sz="700">
                <a:solidFill>
                  <a:srgbClr val="141414"/>
                </a:solidFill>
              </a:defRPr>
            </a:pPr>
            <a:r>
              <a:t>• Priority score: rent stress, years renting, household need</a:t>
            </a:r>
          </a:p>
          <a:p>
            <a:pPr>
              <a:defRPr sz="700">
                <a:solidFill>
                  <a:srgbClr val="141414"/>
                </a:solidFill>
              </a:defRPr>
            </a:pPr>
            <a:r>
              <a:t>• Safeguards: anti-gaming checks + independent review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11480" y="5705856"/>
            <a:ext cx="11356848" cy="585216"/>
          </a:xfrm>
          <a:prstGeom prst="rect">
            <a:avLst/>
          </a:prstGeom>
          <a:solidFill>
            <a:srgbClr val="363A42"/>
          </a:solidFill>
          <a:ln>
            <a:solidFill>
              <a:srgbClr val="363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48640" y="5797296"/>
            <a:ext cx="110642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</a:defRPr>
            </a:pPr>
            <a:r>
              <a:t>KPI dashboard: cost/serviced lot, cost/completed dwelling, approval cycle time, lots delivered/month, on-time handover, 90-day defects.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8640" y="5980176"/>
            <a:ext cx="110642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</a:defRPr>
            </a:pPr>
            <a:r>
              <a:t>Execution principle: state land control captures uplift, private delivery panels preserve speed and contestability.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11480" y="6345936"/>
            <a:ext cx="11155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464646"/>
                </a:solidFill>
              </a:defRPr>
            </a:pPr>
            <a:r>
              <a:t>Slide basis: docs/slides/slide-11.plan.md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