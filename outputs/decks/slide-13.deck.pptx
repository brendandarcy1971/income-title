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worked example is illustrative and intended to show plausibility under clear assumptions.</a:t>
            </a:r>
          </a:p>
          <a:p/>
          <a:p>
            <a:r>
              <a:t>The mini table and line trajectory communicate that moderate earners can make visible progress toward completion over time.</a:t>
            </a:r>
          </a:p>
          <a:p/>
          <a:p>
            <a:r>
              <a:t>The next slide compares how this timeline changes for higher-income pathways under the same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41414"/>
                </a:solidFill>
              </a:defRPr>
            </a:pPr>
            <a:r>
              <a:t>Worked Example: Moderate Income Household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64646"/>
                </a:solidFill>
              </a:defRPr>
            </a:pPr>
            <a:r>
              <a:t>Illustrative progression from occupancy to ownership using income-linked payments.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3840480" cy="452628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64646"/>
                </a:solidFill>
              </a:defRPr>
            </a:pPr>
            <a:r>
              <a:t>Example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9344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Starting income: $95k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Payment rate: 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84832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Income growth: 3% p.a.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22576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Annual floor: $8k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6032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4"/>
                </a:solidFill>
              </a:defRPr>
            </a:pPr>
            <a:r>
              <a:t>• Target cap: indexed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64646"/>
                </a:solidFill>
              </a:defRPr>
            </a:pPr>
            <a:r>
              <a:t>Mini Progress 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54096"/>
            <a:ext cx="347472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464646"/>
                </a:solidFill>
              </a:defRPr>
            </a:pPr>
            <a:r>
              <a:t>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154680"/>
            <a:ext cx="10972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464646"/>
                </a:solidFill>
              </a:defRPr>
            </a:pPr>
            <a:r>
              <a:t>Annual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54680"/>
            <a:ext cx="10972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464646"/>
                </a:solidFill>
              </a:defRPr>
            </a:pPr>
            <a:r>
              <a:t>Cumulative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01568"/>
            <a:ext cx="10058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Year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401568"/>
            <a:ext cx="10972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$9.5k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401568"/>
            <a:ext cx="10972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$9.5k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10058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Year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794760"/>
            <a:ext cx="10972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$10.7k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794760"/>
            <a:ext cx="10972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$50.7k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87952"/>
            <a:ext cx="10058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Year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187952"/>
            <a:ext cx="10972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$12.4k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187952"/>
            <a:ext cx="10972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$108.8k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81144"/>
            <a:ext cx="10058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Year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581144"/>
            <a:ext cx="10972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$14.4k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581144"/>
            <a:ext cx="10972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$175.4k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1234440"/>
            <a:ext cx="7223760" cy="452628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1371600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64646"/>
                </a:solidFill>
              </a:defRPr>
            </a:pPr>
            <a:r>
              <a:t>Cumulative Progress Trajectory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92040" y="1783080"/>
            <a:ext cx="658368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03520" y="1965960"/>
            <a:ext cx="9144" cy="3017520"/>
          </a:xfrm>
          <a:prstGeom prst="rect">
            <a:avLst/>
          </a:prstGeom>
          <a:solidFill>
            <a:srgbClr val="AAB0B8"/>
          </a:solidFill>
          <a:ln>
            <a:solidFill>
              <a:srgbClr val="AAB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0" y="4983480"/>
            <a:ext cx="5897880" cy="9144"/>
          </a:xfrm>
          <a:prstGeom prst="rect">
            <a:avLst/>
          </a:prstGeom>
          <a:solidFill>
            <a:srgbClr val="AAB0B8"/>
          </a:solidFill>
          <a:ln>
            <a:solidFill>
              <a:srgbClr val="AAB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59" y="1965960"/>
            <a:ext cx="320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464646"/>
                </a:solidFill>
              </a:defRPr>
            </a:pPr>
            <a:r>
              <a:t>$300k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59" y="2971800"/>
            <a:ext cx="320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464646"/>
                </a:solidFill>
              </a:defRPr>
            </a:pPr>
            <a:r>
              <a:t>$200k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59" y="3977639"/>
            <a:ext cx="320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464646"/>
                </a:solidFill>
              </a:defRPr>
            </a:pPr>
            <a:r>
              <a:t>$100k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0679" y="4480560"/>
            <a:ext cx="1005840" cy="448055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46520" y="3931920"/>
            <a:ext cx="1188719" cy="603504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35240" y="3200400"/>
            <a:ext cx="1280160" cy="786383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15400" y="2441448"/>
            <a:ext cx="1280159" cy="813816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95559" y="2130552"/>
            <a:ext cx="914400" cy="365759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13247" y="4846320"/>
            <a:ext cx="54864" cy="54864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19088" y="4453128"/>
            <a:ext cx="54864" cy="54864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07808" y="3904487"/>
            <a:ext cx="54864" cy="54864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87968" y="3172968"/>
            <a:ext cx="54864" cy="54864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68128" y="2414016"/>
            <a:ext cx="54864" cy="54864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082528" y="2103120"/>
            <a:ext cx="54864" cy="54864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0" y="1874519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E5F66"/>
                </a:solidFill>
              </a:defRPr>
            </a:pPr>
            <a:r>
              <a:t>Completion zone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89920" y="1984248"/>
            <a:ext cx="457200" cy="219456"/>
          </a:xfrm>
          <a:prstGeom prst="rect">
            <a:avLst/>
          </a:prstGeom>
          <a:solidFill>
            <a:srgbClr val="E6F4F7"/>
          </a:solidFill>
          <a:ln>
            <a:solidFill>
              <a:srgbClr val="B4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5806440"/>
            <a:ext cx="11338560" cy="685800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601675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Under moderate-income assumptions, ownership progression is visible, measurable, and policy-auditable.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Illustrative scenario from slide-map Section 13 assumptions.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