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comparison demonstrates capacity-based acceleration under one consistent rule set.</a:t>
            </a:r>
          </a:p>
          <a:p/>
          <a:p>
            <a:r>
              <a:t>Higher income does not require different mechanics; it changes contribution pace and therefore time-to-completion.</a:t>
            </a:r>
          </a:p>
          <a:p/>
          <a:p>
            <a:r>
              <a:t>That preserves policy simplicity while reflecting real household diversity.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46304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141414"/>
                </a:solidFill>
              </a:defRPr>
            </a:pPr>
            <a:r>
              <a:t>Worked Example: Middle and Higher Income Pathways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76656"/>
            <a:ext cx="111556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464646"/>
                </a:solidFill>
              </a:defRPr>
            </a:pPr>
            <a:r>
              <a:t>Same rules, different earning trajectories, different completion timing.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34440"/>
            <a:ext cx="7452360" cy="4526280"/>
          </a:xfrm>
          <a:prstGeom prst="rect">
            <a:avLst/>
          </a:prstGeom>
          <a:solidFill>
            <a:srgbClr val="F1F4F7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9224" y="1307592"/>
            <a:ext cx="715975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464646"/>
                </a:solidFill>
              </a:defRPr>
            </a:pPr>
            <a:r>
              <a:t>Comparative Completion Curves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600200"/>
            <a:ext cx="6629400" cy="3657600"/>
          </a:xfrm>
          <a:prstGeom prst="rect">
            <a:avLst/>
          </a:prstGeom>
          <a:solidFill>
            <a:srgbClr val="FFFFFF"/>
          </a:solidFill>
          <a:ln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325880" y="1783080"/>
            <a:ext cx="9144" cy="3200400"/>
          </a:xfrm>
          <a:prstGeom prst="rect">
            <a:avLst/>
          </a:prstGeom>
          <a:solidFill>
            <a:srgbClr val="AAB0B8"/>
          </a:solidFill>
          <a:ln>
            <a:solidFill>
              <a:srgbClr val="AAB0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325880" y="4983480"/>
            <a:ext cx="5897880" cy="9144"/>
          </a:xfrm>
          <a:prstGeom prst="rect">
            <a:avLst/>
          </a:prstGeom>
          <a:solidFill>
            <a:srgbClr val="AAB0B8"/>
          </a:solidFill>
          <a:ln>
            <a:solidFill>
              <a:srgbClr val="AAB0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508760" y="4389120"/>
            <a:ext cx="868680" cy="530352"/>
          </a:xfrm>
          <a:prstGeom prst="rect">
            <a:avLst/>
          </a:prstGeom>
          <a:solidFill>
            <a:srgbClr val="1E5F66"/>
          </a:solidFill>
          <a:ln>
            <a:solidFill>
              <a:srgbClr val="1E5F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377440" y="3813048"/>
            <a:ext cx="1005840" cy="621792"/>
          </a:xfrm>
          <a:prstGeom prst="rect">
            <a:avLst/>
          </a:prstGeom>
          <a:solidFill>
            <a:srgbClr val="1E5F66"/>
          </a:solidFill>
          <a:ln>
            <a:solidFill>
              <a:srgbClr val="1E5F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83280" y="3154680"/>
            <a:ext cx="1097280" cy="704087"/>
          </a:xfrm>
          <a:prstGeom prst="rect">
            <a:avLst/>
          </a:prstGeom>
          <a:solidFill>
            <a:srgbClr val="1E5F66"/>
          </a:solidFill>
          <a:ln>
            <a:solidFill>
              <a:srgbClr val="1E5F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0560" y="2560320"/>
            <a:ext cx="1097279" cy="640080"/>
          </a:xfrm>
          <a:prstGeom prst="rect">
            <a:avLst/>
          </a:prstGeom>
          <a:solidFill>
            <a:srgbClr val="1E5F66"/>
          </a:solidFill>
          <a:ln>
            <a:solidFill>
              <a:srgbClr val="1E5F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508760" y="4206240"/>
            <a:ext cx="685800" cy="713232"/>
          </a:xfrm>
          <a:prstGeom prst="rect">
            <a:avLst/>
          </a:prstGeom>
          <a:solidFill>
            <a:srgbClr val="C65E1F"/>
          </a:solidFill>
          <a:ln>
            <a:solidFill>
              <a:srgbClr val="C65E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194560" y="3474720"/>
            <a:ext cx="731520" cy="777239"/>
          </a:xfrm>
          <a:prstGeom prst="rect">
            <a:avLst/>
          </a:prstGeom>
          <a:solidFill>
            <a:srgbClr val="C65E1F"/>
          </a:solidFill>
          <a:ln>
            <a:solidFill>
              <a:srgbClr val="C65E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26080" y="2560320"/>
            <a:ext cx="822959" cy="960120"/>
          </a:xfrm>
          <a:prstGeom prst="rect">
            <a:avLst/>
          </a:prstGeom>
          <a:solidFill>
            <a:srgbClr val="C65E1F"/>
          </a:solidFill>
          <a:ln>
            <a:solidFill>
              <a:srgbClr val="C65E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749039" y="1965960"/>
            <a:ext cx="914400" cy="640080"/>
          </a:xfrm>
          <a:prstGeom prst="rect">
            <a:avLst/>
          </a:prstGeom>
          <a:solidFill>
            <a:srgbClr val="C65E1F"/>
          </a:solidFill>
          <a:ln>
            <a:solidFill>
              <a:srgbClr val="C65E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663440" y="1600200"/>
            <a:ext cx="822960" cy="411479"/>
          </a:xfrm>
          <a:prstGeom prst="rect">
            <a:avLst/>
          </a:prstGeom>
          <a:solidFill>
            <a:srgbClr val="C65E1F"/>
          </a:solidFill>
          <a:ln>
            <a:solidFill>
              <a:srgbClr val="C65E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03520" y="2560320"/>
            <a:ext cx="128016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1E5F66"/>
                </a:solidFill>
              </a:defRPr>
            </a:pPr>
            <a:r>
              <a:t>Middle-income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80" y="1645919"/>
            <a:ext cx="128016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C65E1F"/>
                </a:solidFill>
              </a:defRPr>
            </a:pPr>
            <a:r>
              <a:t>Higher-income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38160" y="1234440"/>
            <a:ext cx="3611880" cy="4526280"/>
          </a:xfrm>
          <a:prstGeom prst="rect">
            <a:avLst/>
          </a:prstGeom>
          <a:solidFill>
            <a:srgbClr val="F1F4F7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21040" y="1371600"/>
            <a:ext cx="3200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464646"/>
                </a:solidFill>
              </a:defRPr>
            </a:pPr>
            <a:r>
              <a:t>Completion Ranges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321040" y="1664208"/>
            <a:ext cx="3246120" cy="1143000"/>
          </a:xfrm>
          <a:prstGeom prst="rect">
            <a:avLst/>
          </a:prstGeom>
          <a:solidFill>
            <a:srgbClr val="FFFFFF"/>
          </a:solidFill>
          <a:ln>
            <a:solidFill>
              <a:srgbClr val="CD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85632" y="1783080"/>
            <a:ext cx="29260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1E5F66"/>
                </a:solidFill>
              </a:defRPr>
            </a:pPr>
            <a:r>
              <a:t>Middle-income pathway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85632" y="2011680"/>
            <a:ext cx="29260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464646"/>
                </a:solidFill>
              </a:defRPr>
            </a:pPr>
            <a:r>
              <a:t>Indicative completion: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85632" y="2212848"/>
            <a:ext cx="29260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141414"/>
                </a:solidFill>
              </a:defRPr>
            </a:pPr>
            <a:r>
              <a:t>~14-17 years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321040" y="2944368"/>
            <a:ext cx="3246120" cy="1143000"/>
          </a:xfrm>
          <a:prstGeom prst="rect">
            <a:avLst/>
          </a:prstGeom>
          <a:solidFill>
            <a:srgbClr val="FFFFFF"/>
          </a:solidFill>
          <a:ln>
            <a:solidFill>
              <a:srgbClr val="CD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85632" y="3063240"/>
            <a:ext cx="29260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C65E1F"/>
                </a:solidFill>
              </a:defRPr>
            </a:pPr>
            <a:r>
              <a:t>Higher-income pathway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85632" y="3291840"/>
            <a:ext cx="29260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464646"/>
                </a:solidFill>
              </a:defRPr>
            </a:pPr>
            <a:r>
              <a:t>Indicative completion: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85632" y="3493008"/>
            <a:ext cx="29260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141414"/>
                </a:solidFill>
              </a:defRPr>
            </a:pPr>
            <a:r>
              <a:t>~10-13 years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321040" y="4224528"/>
            <a:ext cx="3246120" cy="1325880"/>
          </a:xfrm>
          <a:prstGeom prst="rect">
            <a:avLst/>
          </a:prstGeom>
          <a:solidFill>
            <a:srgbClr val="FFFFFF"/>
          </a:solidFill>
          <a:ln>
            <a:solidFill>
              <a:srgbClr val="CD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85632" y="4361688"/>
            <a:ext cx="29260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464646"/>
                </a:solidFill>
              </a:defRPr>
            </a:pPr>
            <a:r>
              <a:t>Interpretation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85632" y="4590288"/>
            <a:ext cx="2926080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141414"/>
                </a:solidFill>
              </a:defRPr>
            </a:pPr>
            <a:r>
              <a:t>The framework is stable across cohorts. Time-to-completion changes with earnings capacity, not with separate policy rulebooks.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11480" y="5806440"/>
            <a:ext cx="11338560" cy="685800"/>
          </a:xfrm>
          <a:prstGeom prst="rect">
            <a:avLst/>
          </a:prstGeom>
          <a:solidFill>
            <a:srgbClr val="363A42"/>
          </a:solidFill>
          <a:ln>
            <a:solidFill>
              <a:srgbClr val="363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8368" y="6016752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Income-linked mechanics scale naturally: higher earnings accelerate completion while rule consistency is preserved.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1480" y="6547104"/>
            <a:ext cx="111556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464646"/>
                </a:solidFill>
              </a:defRPr>
            </a:pPr>
            <a:r>
              <a:t>Slide basis: docs/slides/slide-map.md Section 14.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